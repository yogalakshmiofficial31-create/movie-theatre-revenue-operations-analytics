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10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Oval 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0" y="2226503"/>
            <a:ext cx="5917679" cy="255087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0" y="4777380"/>
            <a:ext cx="5917679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498080" y="1828800"/>
            <a:ext cx="990599" cy="22865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236208" y="3264408"/>
            <a:ext cx="3859795" cy="228660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656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970" y="927098"/>
            <a:ext cx="6343672" cy="70986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73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6200000">
              <a:off x="3105027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/>
            <p:nvPr/>
          </p:nvSpPr>
          <p:spPr bwMode="gray">
            <a:xfrm rot="15687606">
              <a:off x="3320102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7534" y="2257588"/>
            <a:ext cx="3090672" cy="3020344"/>
          </a:xfrm>
        </p:spPr>
        <p:txBody>
          <a:bodyPr anchor="ctr"/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9261" y="2257588"/>
            <a:ext cx="3082516" cy="302034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333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440" y="2489200"/>
            <a:ext cx="3636980" cy="3530603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81" y="2489203"/>
            <a:ext cx="3636980" cy="353060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878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9918" y="2489200"/>
            <a:ext cx="3633502" cy="75929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440" y="3248490"/>
            <a:ext cx="3636980" cy="2771311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81" y="2489200"/>
            <a:ext cx="3636979" cy="75663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81" y="3245835"/>
            <a:ext cx="3636980" cy="277396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128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888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136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548536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2" name="Freeform 5"/>
            <p:cNvSpPr/>
            <p:nvPr/>
          </p:nvSpPr>
          <p:spPr bwMode="gray">
            <a:xfrm rot="15687606">
              <a:off x="2769747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447800"/>
            <a:ext cx="2712590" cy="1495588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8927" y="1447800"/>
            <a:ext cx="3632850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1" y="3086845"/>
            <a:ext cx="2712589" cy="2933701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791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>
            <a:xfrm>
              <a:off x="5283673" y="402165"/>
              <a:ext cx="3465769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 bwMode="gray">
            <a:xfrm rot="16200000">
              <a:off x="2852610" y="1765596"/>
              <a:ext cx="5995993" cy="3326809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 rot="15687606">
              <a:off x="3074559" y="145837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1381390"/>
            <a:ext cx="2987089" cy="157480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22909" y="1320800"/>
            <a:ext cx="2791102" cy="42164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086100"/>
            <a:ext cx="2987089" cy="24511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332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10204164">
              <a:off x="426788" y="456424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6" name="Rectangle 15"/>
            <p:cNvSpPr/>
            <p:nvPr/>
          </p:nvSpPr>
          <p:spPr>
            <a:xfrm>
              <a:off x="421503" y="402165"/>
              <a:ext cx="8327939" cy="3141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 rot="10800000">
              <a:off x="485023" y="2670079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4961454"/>
            <a:ext cx="642200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1" y="685800"/>
            <a:ext cx="6422004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440" y="5528192"/>
            <a:ext cx="6422004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840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2780895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Rectangle 8"/>
            <p:cNvSpPr/>
            <p:nvPr/>
          </p:nvSpPr>
          <p:spPr>
            <a:xfrm>
              <a:off x="485023" y="4343399"/>
              <a:ext cx="8182128" cy="2112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 bwMode="gray">
            <a:xfrm>
              <a:off x="485023" y="2854646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9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2005" cy="16927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3488023"/>
            <a:ext cx="6422005" cy="2536857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3104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21010068">
              <a:off x="6359946" y="4309201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10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4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3" name="TextBox 22"/>
          <p:cNvSpPr txBox="1"/>
          <p:nvPr/>
        </p:nvSpPr>
        <p:spPr bwMode="gray">
          <a:xfrm>
            <a:off x="647430" y="651690"/>
            <a:ext cx="60159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 bwMode="gray">
          <a:xfrm>
            <a:off x="7069418" y="2900292"/>
            <a:ext cx="6190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8060" y="927099"/>
            <a:ext cx="6160385" cy="2882179"/>
          </a:xfrm>
        </p:spPr>
        <p:txBody>
          <a:bodyPr anchor="ctr"/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387278" y="3809278"/>
            <a:ext cx="5646143" cy="333113"/>
          </a:xfrm>
        </p:spPr>
        <p:txBody>
          <a:bodyPr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0" y="5000816"/>
            <a:ext cx="6343673" cy="101061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8369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5"/>
            <p:cNvSpPr/>
            <p:nvPr/>
          </p:nvSpPr>
          <p:spPr bwMode="gray">
            <a:xfrm rot="21010068">
              <a:off x="6359946" y="431124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7"/>
            <p:cNvSpPr/>
            <p:nvPr/>
          </p:nvSpPr>
          <p:spPr bwMode="gray">
            <a:xfrm>
              <a:off x="485023" y="4381500"/>
              <a:ext cx="8182128" cy="2130508"/>
            </a:xfrm>
            <a:custGeom>
              <a:avLst/>
              <a:gdLst/>
              <a:ahLst/>
              <a:cxnLst/>
              <a:rect l="l" t="t" r="r" b="b"/>
              <a:pathLst>
                <a:path w="10000" h="9621">
                  <a:moveTo>
                    <a:pt x="0" y="0"/>
                  </a:moveTo>
                  <a:lnTo>
                    <a:pt x="0" y="2411"/>
                  </a:lnTo>
                  <a:lnTo>
                    <a:pt x="0" y="9586"/>
                  </a:lnTo>
                  <a:lnTo>
                    <a:pt x="0" y="9621"/>
                  </a:lnTo>
                  <a:lnTo>
                    <a:pt x="10000" y="9585"/>
                  </a:lnTo>
                  <a:cubicBezTo>
                    <a:pt x="9997" y="8144"/>
                    <a:pt x="10003" y="9571"/>
                    <a:pt x="10000" y="9586"/>
                  </a:cubicBezTo>
                  <a:cubicBezTo>
                    <a:pt x="9997" y="7194"/>
                    <a:pt x="9993" y="4803"/>
                    <a:pt x="9990" y="2411"/>
                  </a:cubicBezTo>
                  <a:lnTo>
                    <a:pt x="9990" y="0"/>
                  </a:lnTo>
                  <a:lnTo>
                    <a:pt x="9990" y="0"/>
                  </a:lnTo>
                  <a:lnTo>
                    <a:pt x="9534" y="253"/>
                  </a:lnTo>
                  <a:lnTo>
                    <a:pt x="9084" y="477"/>
                  </a:lnTo>
                  <a:lnTo>
                    <a:pt x="8628" y="669"/>
                  </a:lnTo>
                  <a:lnTo>
                    <a:pt x="8177" y="847"/>
                  </a:lnTo>
                  <a:lnTo>
                    <a:pt x="7726" y="984"/>
                  </a:lnTo>
                  <a:lnTo>
                    <a:pt x="7279" y="1087"/>
                  </a:lnTo>
                  <a:lnTo>
                    <a:pt x="6832" y="1176"/>
                  </a:lnTo>
                  <a:lnTo>
                    <a:pt x="6393" y="1236"/>
                  </a:lnTo>
                  <a:lnTo>
                    <a:pt x="5962" y="1279"/>
                  </a:lnTo>
                  <a:lnTo>
                    <a:pt x="5534" y="1294"/>
                  </a:lnTo>
                  <a:lnTo>
                    <a:pt x="5120" y="1294"/>
                  </a:lnTo>
                  <a:lnTo>
                    <a:pt x="4709" y="1294"/>
                  </a:lnTo>
                  <a:lnTo>
                    <a:pt x="4311" y="1266"/>
                  </a:lnTo>
                  <a:lnTo>
                    <a:pt x="3923" y="1221"/>
                  </a:lnTo>
                  <a:lnTo>
                    <a:pt x="3548" y="1161"/>
                  </a:lnTo>
                  <a:lnTo>
                    <a:pt x="3187" y="1101"/>
                  </a:lnTo>
                  <a:lnTo>
                    <a:pt x="2840" y="1026"/>
                  </a:lnTo>
                  <a:lnTo>
                    <a:pt x="2505" y="954"/>
                  </a:lnTo>
                  <a:lnTo>
                    <a:pt x="2192" y="865"/>
                  </a:lnTo>
                  <a:lnTo>
                    <a:pt x="1889" y="775"/>
                  </a:lnTo>
                  <a:lnTo>
                    <a:pt x="1346" y="579"/>
                  </a:lnTo>
                  <a:lnTo>
                    <a:pt x="882" y="400"/>
                  </a:lnTo>
                  <a:lnTo>
                    <a:pt x="511" y="253"/>
                  </a:lnTo>
                  <a:lnTo>
                    <a:pt x="234" y="11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7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2057400"/>
            <a:ext cx="6422005" cy="20955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1" y="5024908"/>
            <a:ext cx="6422004" cy="994891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157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423593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2489200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440" y="3147164"/>
            <a:ext cx="2313432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05614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08471" y="3147164"/>
            <a:ext cx="2318918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2489200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60935" y="3147164"/>
            <a:ext cx="2316625" cy="2888366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294530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941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0" y="927100"/>
            <a:ext cx="6345260" cy="709864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0" y="4179596"/>
            <a:ext cx="2313432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2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9055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439" y="4837558"/>
            <a:ext cx="2313432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11125" y="4179595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8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53189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11125" y="484820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58642" y="4179596"/>
            <a:ext cx="2318918" cy="657962"/>
          </a:xfrm>
        </p:spPr>
        <p:txBody>
          <a:bodyPr anchor="b">
            <a:noAutofit/>
          </a:bodyPr>
          <a:lstStyle>
            <a:lvl1pPr marL="0" indent="0">
              <a:buNone/>
              <a:defRPr sz="20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9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08641" y="2489200"/>
            <a:ext cx="2015144" cy="1447342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58642" y="4837558"/>
            <a:ext cx="2318918" cy="1187321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40" name="Straight Connector 39"/>
          <p:cNvCxnSpPr/>
          <p:nvPr/>
        </p:nvCxnSpPr>
        <p:spPr>
          <a:xfrm>
            <a:off x="3290019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849521" y="2489201"/>
            <a:ext cx="0" cy="3546328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3286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21301" y="6387910"/>
            <a:ext cx="990599" cy="228659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6133" y="6387910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6034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88" y="0"/>
            <a:ext cx="9120420" cy="6860798"/>
            <a:chOff x="-1588" y="0"/>
            <a:chExt cx="9120420" cy="6860798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4966650">
              <a:off x="4673046" y="5107506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</p:grpSp>
      <p:sp>
        <p:nvSpPr>
          <p:cNvPr id="17" name="Rectangle 16"/>
          <p:cNvSpPr/>
          <p:nvPr/>
        </p:nvSpPr>
        <p:spPr>
          <a:xfrm>
            <a:off x="414867" y="402165"/>
            <a:ext cx="4610565" cy="605367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 bwMode="gray">
          <a:xfrm rot="5400000">
            <a:off x="1299309" y="1765596"/>
            <a:ext cx="5995993" cy="3326809"/>
          </a:xfrm>
          <a:custGeom>
            <a:avLst/>
            <a:gdLst/>
            <a:ahLst/>
            <a:cxnLst/>
            <a:rect l="0" t="0" r="r" b="b"/>
            <a:pathLst>
              <a:path w="4960" h="2752">
                <a:moveTo>
                  <a:pt x="0" y="0"/>
                </a:moveTo>
                <a:lnTo>
                  <a:pt x="0" y="324"/>
                </a:lnTo>
                <a:lnTo>
                  <a:pt x="0" y="1992"/>
                </a:lnTo>
                <a:lnTo>
                  <a:pt x="0" y="2752"/>
                </a:lnTo>
                <a:lnTo>
                  <a:pt x="4960" y="2752"/>
                </a:lnTo>
                <a:lnTo>
                  <a:pt x="4960" y="1992"/>
                </a:lnTo>
                <a:lnTo>
                  <a:pt x="4960" y="324"/>
                </a:lnTo>
                <a:lnTo>
                  <a:pt x="4960" y="0"/>
                </a:lnTo>
                <a:lnTo>
                  <a:pt x="4960" y="0"/>
                </a:lnTo>
                <a:lnTo>
                  <a:pt x="4734" y="34"/>
                </a:lnTo>
                <a:lnTo>
                  <a:pt x="4510" y="64"/>
                </a:lnTo>
                <a:lnTo>
                  <a:pt x="4284" y="90"/>
                </a:lnTo>
                <a:lnTo>
                  <a:pt x="4060" y="114"/>
                </a:lnTo>
                <a:lnTo>
                  <a:pt x="3836" y="132"/>
                </a:lnTo>
                <a:lnTo>
                  <a:pt x="3614" y="146"/>
                </a:lnTo>
                <a:lnTo>
                  <a:pt x="3392" y="158"/>
                </a:lnTo>
                <a:lnTo>
                  <a:pt x="3174" y="166"/>
                </a:lnTo>
                <a:lnTo>
                  <a:pt x="2960" y="172"/>
                </a:lnTo>
                <a:lnTo>
                  <a:pt x="2748" y="174"/>
                </a:lnTo>
                <a:lnTo>
                  <a:pt x="2542" y="174"/>
                </a:lnTo>
                <a:lnTo>
                  <a:pt x="2338" y="174"/>
                </a:lnTo>
                <a:lnTo>
                  <a:pt x="2140" y="170"/>
                </a:lnTo>
                <a:lnTo>
                  <a:pt x="1948" y="164"/>
                </a:lnTo>
                <a:lnTo>
                  <a:pt x="1762" y="156"/>
                </a:lnTo>
                <a:lnTo>
                  <a:pt x="1582" y="148"/>
                </a:lnTo>
                <a:lnTo>
                  <a:pt x="1410" y="138"/>
                </a:lnTo>
                <a:lnTo>
                  <a:pt x="1244" y="128"/>
                </a:lnTo>
                <a:lnTo>
                  <a:pt x="1088" y="116"/>
                </a:lnTo>
                <a:lnTo>
                  <a:pt x="938" y="104"/>
                </a:lnTo>
                <a:lnTo>
                  <a:pt x="668" y="78"/>
                </a:lnTo>
                <a:lnTo>
                  <a:pt x="438" y="54"/>
                </a:lnTo>
                <a:lnTo>
                  <a:pt x="254" y="34"/>
                </a:lnTo>
                <a:lnTo>
                  <a:pt x="116" y="1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18" name="Freeform 5"/>
          <p:cNvSpPr>
            <a:spLocks noEditPoints="1"/>
          </p:cNvSpPr>
          <p:nvPr/>
        </p:nvSpPr>
        <p:spPr bwMode="gray">
          <a:xfrm>
            <a:off x="0" y="0"/>
            <a:ext cx="9144000" cy="6858000"/>
          </a:xfrm>
          <a:custGeom>
            <a:avLst/>
            <a:gdLst/>
            <a:ahLst/>
            <a:cxnLst/>
            <a:rect l="0" t="0" r="r" b="b"/>
            <a:pathLst>
              <a:path w="5760" h="4320">
                <a:moveTo>
                  <a:pt x="0" y="0"/>
                </a:moveTo>
                <a:lnTo>
                  <a:pt x="0" y="4320"/>
                </a:lnTo>
                <a:lnTo>
                  <a:pt x="5760" y="4320"/>
                </a:lnTo>
                <a:lnTo>
                  <a:pt x="5760" y="0"/>
                </a:lnTo>
                <a:lnTo>
                  <a:pt x="0" y="0"/>
                </a:lnTo>
                <a:close/>
                <a:moveTo>
                  <a:pt x="5444" y="4004"/>
                </a:moveTo>
                <a:lnTo>
                  <a:pt x="324" y="4004"/>
                </a:lnTo>
                <a:lnTo>
                  <a:pt x="324" y="324"/>
                </a:lnTo>
                <a:lnTo>
                  <a:pt x="5444" y="324"/>
                </a:lnTo>
                <a:lnTo>
                  <a:pt x="5444" y="40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74928" y="1447799"/>
            <a:ext cx="1113516" cy="4572001"/>
          </a:xfrm>
        </p:spPr>
        <p:txBody>
          <a:bodyPr vert="eaVert" anchor="ctr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738" y="1447799"/>
            <a:ext cx="4416936" cy="457200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546" y="6365498"/>
            <a:ext cx="3859795" cy="2286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678616" y="295730"/>
            <a:ext cx="791308" cy="767687"/>
          </a:xfrm>
          <a:prstGeom prst="rect">
            <a:avLst/>
          </a:prstGeom>
        </p:spPr>
        <p:txBody>
          <a:bodyPr/>
          <a:lstStyle>
            <a:lvl1pPr algn="ctr"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607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-1588" y="0"/>
            <a:ext cx="9145588" cy="6860798"/>
            <a:chOff x="-1588" y="0"/>
            <a:chExt cx="9145588" cy="6860798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9118832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rcRect/>
              <a:stretch>
                <a:fillRect l="-16713" r="-16989"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629943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5689832" y="0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6299432" y="5870198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-1588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Freeform 5"/>
            <p:cNvSpPr/>
            <p:nvPr/>
          </p:nvSpPr>
          <p:spPr bwMode="gray">
            <a:xfrm rot="21010068">
              <a:off x="6359946" y="1790293"/>
              <a:ext cx="2377690" cy="317748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5" name="Freeform 24"/>
            <p:cNvSpPr/>
            <p:nvPr/>
          </p:nvSpPr>
          <p:spPr bwMode="gray">
            <a:xfrm>
              <a:off x="485023" y="1856450"/>
              <a:ext cx="8173954" cy="4535226"/>
            </a:xfrm>
            <a:custGeom>
              <a:avLst/>
              <a:gdLst/>
              <a:ahLst/>
              <a:cxnLst/>
              <a:rect l="0" t="0" r="r" b="b"/>
              <a:pathLst>
                <a:path w="4960" h="2752">
                  <a:moveTo>
                    <a:pt x="0" y="0"/>
                  </a:moveTo>
                  <a:lnTo>
                    <a:pt x="0" y="324"/>
                  </a:lnTo>
                  <a:lnTo>
                    <a:pt x="0" y="1992"/>
                  </a:lnTo>
                  <a:lnTo>
                    <a:pt x="0" y="2752"/>
                  </a:lnTo>
                  <a:lnTo>
                    <a:pt x="4960" y="2752"/>
                  </a:lnTo>
                  <a:lnTo>
                    <a:pt x="4960" y="1992"/>
                  </a:lnTo>
                  <a:lnTo>
                    <a:pt x="4960" y="324"/>
                  </a:lnTo>
                  <a:lnTo>
                    <a:pt x="4960" y="0"/>
                  </a:lnTo>
                  <a:lnTo>
                    <a:pt x="4960" y="0"/>
                  </a:lnTo>
                  <a:lnTo>
                    <a:pt x="4734" y="34"/>
                  </a:lnTo>
                  <a:lnTo>
                    <a:pt x="4510" y="64"/>
                  </a:lnTo>
                  <a:lnTo>
                    <a:pt x="4284" y="90"/>
                  </a:lnTo>
                  <a:lnTo>
                    <a:pt x="4060" y="114"/>
                  </a:lnTo>
                  <a:lnTo>
                    <a:pt x="3836" y="132"/>
                  </a:lnTo>
                  <a:lnTo>
                    <a:pt x="3614" y="146"/>
                  </a:lnTo>
                  <a:lnTo>
                    <a:pt x="3392" y="158"/>
                  </a:lnTo>
                  <a:lnTo>
                    <a:pt x="3174" y="166"/>
                  </a:lnTo>
                  <a:lnTo>
                    <a:pt x="2960" y="172"/>
                  </a:lnTo>
                  <a:lnTo>
                    <a:pt x="2748" y="174"/>
                  </a:lnTo>
                  <a:lnTo>
                    <a:pt x="2542" y="174"/>
                  </a:lnTo>
                  <a:lnTo>
                    <a:pt x="2338" y="174"/>
                  </a:lnTo>
                  <a:lnTo>
                    <a:pt x="2140" y="170"/>
                  </a:lnTo>
                  <a:lnTo>
                    <a:pt x="1948" y="164"/>
                  </a:lnTo>
                  <a:lnTo>
                    <a:pt x="1762" y="156"/>
                  </a:lnTo>
                  <a:lnTo>
                    <a:pt x="1582" y="148"/>
                  </a:lnTo>
                  <a:lnTo>
                    <a:pt x="1410" y="138"/>
                  </a:lnTo>
                  <a:lnTo>
                    <a:pt x="1244" y="128"/>
                  </a:lnTo>
                  <a:lnTo>
                    <a:pt x="1088" y="116"/>
                  </a:lnTo>
                  <a:lnTo>
                    <a:pt x="938" y="104"/>
                  </a:lnTo>
                  <a:lnTo>
                    <a:pt x="668" y="78"/>
                  </a:lnTo>
                  <a:lnTo>
                    <a:pt x="438" y="54"/>
                  </a:lnTo>
                  <a:lnTo>
                    <a:pt x="254" y="34"/>
                  </a:lnTo>
                  <a:lnTo>
                    <a:pt x="116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0" t="0" r="r" b="b"/>
              <a:pathLst>
                <a:path w="5760" h="4320">
                  <a:moveTo>
                    <a:pt x="0" y="0"/>
                  </a:moveTo>
                  <a:lnTo>
                    <a:pt x="0" y="4320"/>
                  </a:lnTo>
                  <a:lnTo>
                    <a:pt x="5760" y="4320"/>
                  </a:lnTo>
                  <a:lnTo>
                    <a:pt x="5760" y="0"/>
                  </a:lnTo>
                  <a:lnTo>
                    <a:pt x="0" y="0"/>
                  </a:lnTo>
                  <a:close/>
                  <a:moveTo>
                    <a:pt x="5444" y="4004"/>
                  </a:moveTo>
                  <a:lnTo>
                    <a:pt x="324" y="4004"/>
                  </a:lnTo>
                  <a:lnTo>
                    <a:pt x="324" y="324"/>
                  </a:lnTo>
                  <a:lnTo>
                    <a:pt x="5444" y="324"/>
                  </a:lnTo>
                  <a:lnTo>
                    <a:pt x="5444" y="400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440" y="927099"/>
            <a:ext cx="6345260" cy="7098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4382" y="2489200"/>
            <a:ext cx="6345260" cy="353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74443" y="6365498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 b="1" i="0">
                <a:solidFill>
                  <a:schemeClr val="accent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0843" y="6365497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678616" y="295730"/>
            <a:ext cx="791308" cy="767687"/>
          </a:xfrm>
          <a:prstGeom prst="rect">
            <a:avLst/>
          </a:prstGeom>
        </p:spPr>
        <p:txBody>
          <a:bodyPr anchor="b"/>
          <a:lstStyle>
            <a:lvl1pPr algn="ctr">
              <a:defRPr sz="2800"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23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b="0" i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83464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6012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3444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0876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0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25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4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CineMax Multiplex Revenue &amp; Operations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Presented by: Yogalakshmi M</a:t>
            </a:r>
          </a:p>
          <a:p>
            <a:r>
              <a:t>Power BI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200"/>
            </a:pPr>
            <a:r>
              <a:rPr dirty="0"/>
              <a:t>• </a:t>
            </a:r>
            <a:r>
              <a:rPr dirty="0" err="1"/>
              <a:t>CineMax</a:t>
            </a:r>
            <a:r>
              <a:rPr dirty="0"/>
              <a:t> operates multiple theatres across Tamil Nadu.</a:t>
            </a:r>
          </a:p>
          <a:p>
            <a:pPr marL="0" indent="0">
              <a:buNone/>
              <a:defRPr sz="2200"/>
            </a:pPr>
            <a:r>
              <a:rPr dirty="0"/>
              <a:t>• Management needs centralized reporting for revenue, occupancy, customers, promotions and operations.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200"/>
            </a:pPr>
            <a:r>
              <a:rPr dirty="0"/>
              <a:t>• Build an end-to-end Power BI </a:t>
            </a:r>
            <a:r>
              <a:rPr dirty="0" err="1"/>
              <a:t>BI</a:t>
            </a:r>
            <a:r>
              <a:rPr dirty="0"/>
              <a:t> solution.</a:t>
            </a:r>
          </a:p>
          <a:p>
            <a:pPr marL="0" indent="0">
              <a:buNone/>
              <a:defRPr sz="2200"/>
            </a:pPr>
            <a:r>
              <a:rPr dirty="0"/>
              <a:t>• Use Power Query, Star Schema, DAX and Interactive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200"/>
            </a:pPr>
            <a:r>
              <a:rPr dirty="0"/>
              <a:t>• 8 Dimension Tables</a:t>
            </a:r>
          </a:p>
          <a:p>
            <a:pPr marL="0" indent="0">
              <a:buNone/>
              <a:defRPr sz="2200"/>
            </a:pPr>
            <a:r>
              <a:rPr dirty="0"/>
              <a:t>• 1 Fact Table (5000 ticket sales)</a:t>
            </a:r>
          </a:p>
          <a:p>
            <a:pPr marL="0" indent="0">
              <a:buNone/>
              <a:defRPr sz="2200"/>
            </a:pPr>
            <a:r>
              <a:rPr dirty="0"/>
              <a:t>• Date Range: 2024–2026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200"/>
            </a:pPr>
            <a:r>
              <a:rPr dirty="0"/>
              <a:t>• Removed duplicates</a:t>
            </a:r>
          </a:p>
          <a:p>
            <a:pPr marL="0" indent="0">
              <a:buNone/>
              <a:defRPr sz="2200"/>
            </a:pPr>
            <a:r>
              <a:rPr dirty="0"/>
              <a:t>• Validated keys</a:t>
            </a:r>
          </a:p>
          <a:p>
            <a:pPr marL="0" indent="0">
              <a:buNone/>
              <a:defRPr sz="2200"/>
            </a:pPr>
            <a:r>
              <a:rPr dirty="0"/>
              <a:t>• Checked data types</a:t>
            </a:r>
          </a:p>
          <a:p>
            <a:pPr marL="0" indent="0">
              <a:buNone/>
              <a:defRPr sz="2200"/>
            </a:pPr>
            <a:r>
              <a:rPr dirty="0"/>
              <a:t>• Handled missing values</a:t>
            </a:r>
          </a:p>
          <a:p>
            <a:pPr marL="0" indent="0">
              <a:buNone/>
              <a:defRPr sz="2200"/>
            </a:pPr>
            <a:r>
              <a:rPr dirty="0"/>
              <a:t>• Built relationships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Star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200"/>
            </a:pPr>
            <a:r>
              <a:rPr dirty="0"/>
              <a:t>• </a:t>
            </a:r>
            <a:r>
              <a:rPr dirty="0" err="1"/>
              <a:t>Fact_Ticket_Sales</a:t>
            </a:r>
            <a:r>
              <a:rPr dirty="0"/>
              <a:t> linked with Date, Movie, Customer, Theatre, Screen, Show, Promotion and Category dimensions.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DAX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200"/>
            </a:pPr>
            <a:r>
              <a:rPr dirty="0"/>
              <a:t>• Total Revenue</a:t>
            </a:r>
          </a:p>
          <a:p>
            <a:pPr marL="0" indent="0">
              <a:buNone/>
              <a:defRPr sz="2200"/>
            </a:pPr>
            <a:r>
              <a:rPr dirty="0"/>
              <a:t>• Tickets Sold</a:t>
            </a:r>
          </a:p>
          <a:p>
            <a:pPr marL="0" indent="0">
              <a:buNone/>
              <a:defRPr sz="2200"/>
            </a:pPr>
            <a:r>
              <a:rPr dirty="0"/>
              <a:t>• Customers</a:t>
            </a:r>
          </a:p>
          <a:p>
            <a:pPr marL="0" indent="0">
              <a:buNone/>
              <a:defRPr sz="2200"/>
            </a:pPr>
            <a:r>
              <a:rPr dirty="0"/>
              <a:t>• Food Revenue</a:t>
            </a:r>
          </a:p>
          <a:p>
            <a:pPr marL="0" indent="0">
              <a:buNone/>
              <a:defRPr sz="2200"/>
            </a:pPr>
            <a:r>
              <a:rPr dirty="0"/>
              <a:t>• </a:t>
            </a:r>
            <a:r>
              <a:rPr dirty="0" err="1"/>
              <a:t>Avg</a:t>
            </a:r>
            <a:r>
              <a:rPr dirty="0"/>
              <a:t> Ticket Price</a:t>
            </a:r>
          </a:p>
          <a:p>
            <a:pPr marL="0" indent="0">
              <a:buNone/>
              <a:defRPr sz="2200"/>
            </a:pPr>
            <a:r>
              <a:rPr dirty="0"/>
              <a:t>• Occupancy %</a:t>
            </a:r>
          </a:p>
          <a:p>
            <a:pPr marL="0" indent="0">
              <a:buNone/>
              <a:defRPr sz="2200"/>
            </a:pPr>
            <a:r>
              <a:rPr dirty="0"/>
              <a:t>• YTD &amp; MTD Sales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Pages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1. Executive Dashboard</a:t>
            </a:r>
          </a:p>
          <a:p>
            <a:pPr>
              <a:defRPr sz="2200"/>
            </a:pPr>
            <a:r>
              <a:t>2. Revenue Analysis</a:t>
            </a:r>
          </a:p>
          <a:p>
            <a:pPr>
              <a:defRPr sz="2200"/>
            </a:pPr>
            <a:r>
              <a:t>3. Operations Dashboard</a:t>
            </a:r>
          </a:p>
          <a:p>
            <a:pPr>
              <a:defRPr sz="2200"/>
            </a:pPr>
            <a:r>
              <a:t>4. Customer &amp; Promotion 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Revenue: ₹6.59M</a:t>
            </a:r>
          </a:p>
          <a:p>
            <a:pPr>
              <a:defRPr sz="2200"/>
            </a:pPr>
            <a:r>
              <a:t>• Tickets Sold: 18K</a:t>
            </a:r>
          </a:p>
          <a:p>
            <a:pPr>
              <a:defRPr sz="2200"/>
            </a:pPr>
            <a:r>
              <a:t>• Food Revenue: ₹2M</a:t>
            </a:r>
          </a:p>
          <a:p>
            <a:pPr>
              <a:defRPr sz="2200"/>
            </a:pPr>
            <a:r>
              <a:t>• Occupancy: 62%</a:t>
            </a:r>
          </a:p>
          <a:p>
            <a:pPr>
              <a:defRPr sz="2200"/>
            </a:pPr>
            <a:r>
              <a:t>• Customers: 400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Increase shows for top movies.</a:t>
            </a:r>
          </a:p>
          <a:p>
            <a:pPr>
              <a:defRPr sz="2200"/>
            </a:pPr>
            <a:r>
              <a:t>• Improve weekday promotions.</a:t>
            </a:r>
          </a:p>
          <a:p>
            <a:pPr>
              <a:defRPr sz="2200"/>
            </a:pPr>
            <a:r>
              <a:t>• Expand food &amp; beverage sales.</a:t>
            </a:r>
          </a:p>
          <a:p>
            <a:pPr>
              <a:defRPr sz="2200"/>
            </a:pPr>
            <a:r>
              <a:t>• Optimize theatre scheduling.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&amp;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Power BI, Power Query, DAX, Excel, Star Schema, Data Modeling, Data Visualization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Questions?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7</TotalTime>
  <Words>249</Words>
  <Application>Microsoft Office PowerPoint</Application>
  <PresentationFormat>On-screen Show (4:3)</PresentationFormat>
  <Paragraphs>49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Century Gothic</vt:lpstr>
      <vt:lpstr>Wingdings 3</vt:lpstr>
      <vt:lpstr>Ion Boardroom</vt:lpstr>
      <vt:lpstr>CineMax Multiplex Revenue &amp; Operations Analytics</vt:lpstr>
      <vt:lpstr>Business Background</vt:lpstr>
      <vt:lpstr>Project Objective</vt:lpstr>
      <vt:lpstr>Dataset</vt:lpstr>
      <vt:lpstr>Data Cleaning</vt:lpstr>
      <vt:lpstr>Star Schema</vt:lpstr>
      <vt:lpstr>DAX Measures</vt:lpstr>
      <vt:lpstr>Dashboard Pages</vt:lpstr>
      <vt:lpstr>Key Insights</vt:lpstr>
      <vt:lpstr>Business Recommendations</vt:lpstr>
      <vt:lpstr>Tools &amp; Skills</vt:lpstr>
      <vt:lpstr>Thank You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CineMax Multiplex Revenue &amp; Operations Analytics</dc:title>
  <dc:subject/>
  <dc:creator>thinkpad</dc:creator>
  <cp:keywords/>
  <dc:description>generated using python-pptx</dc:description>
  <cp:lastModifiedBy>Microsoft account</cp:lastModifiedBy>
  <cp:revision>4</cp:revision>
  <dcterms:created xsi:type="dcterms:W3CDTF">2013-01-27T09:14:16Z</dcterms:created>
  <dcterms:modified xsi:type="dcterms:W3CDTF">2026-07-10T13:45:53Z</dcterms:modified>
  <cp:category/>
</cp:coreProperties>
</file>