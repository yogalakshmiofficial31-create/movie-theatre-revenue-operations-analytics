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Welcome to this presentation on Movie Theatre Revenue and Operations Analytics, a Power BI project built for CineMax Multiplex. My name is Yogalakshmi, and I worked on this project as the Business Intelligence Analyst. Over the next few minutes, I will walk you through the business background, the problems we solved, the dashboards we built, and the key insights that came out of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some background. CineMax operates multiple theatres across Tamil Nadu, and every single day, the business generates a large volume of data — ticket sales, food sales, bookings, promotions, and customer information. The challenge was that all of this data was scattered across multiple Excel files. There was no centralized system for management to view what was happening across theatres, which made it very hard to get a clear, real-time picture of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this background, we identified several business problems. There was no centralized dashboard, it was difficult to identify top-performing movies, there was limited visibility into theatre occupancy, promotion effectiveness was unclear, and manual reporting consumed a lot of time. To solve these problems, we set clear project objectives: to monitor revenue, analyze customer behaviour, track theatre performance, improve operational efficiency, and ultimately support data-driven decisions for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overview of the four dashboards we built in Power BI. The Executive Dashboard gives leadership a quick view of KPIs, monthly revenue, and revenue by movie and genre. The Revenue Analysis dashboard breaks revenue down by language, director, and theatre. The Operational Dashboard tracks occupancy, booking status, peak show timings, and weekend versus weekday revenue. And the Customer and Promotion Dashboard shows promotion performance, booking channels, payment methods, membership levels, and food revenue. Together, these four dashboards give management a complete, 360-degree view of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key business insights that came out of this analysis. We can now clearly see the highest revenue-generating movies, identify the best-performing theatres, understand peak booking timings, measure which promotions are most successful, see customer booking preferences, and track how much food revenue contributes to the total. The overall takeaway is simple: interactive dashboards enable faster and better business decisions for CineMax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gave CineMax a centralized reporting system, interactive dashboards, better business visibility, improved operational decisions, and a foundation for data-driven management going forward. Thank you very much for your time.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869680" y="-2103120"/>
            <a:ext cx="5943600" cy="5943600"/>
          </a:xfrm>
          <a:prstGeom prst="ellipse">
            <a:avLst/>
          </a:prstGeom>
          <a:solidFill>
            <a:srgbClr val="141B4D"/>
          </a:solidFill>
          <a:ln/>
        </p:spPr>
      </p:sp>
      <p:sp>
        <p:nvSpPr>
          <p:cNvPr id="3" name="Shape 1"/>
          <p:cNvSpPr/>
          <p:nvPr/>
        </p:nvSpPr>
        <p:spPr>
          <a:xfrm>
            <a:off x="-2286000" y="4206240"/>
            <a:ext cx="5029200" cy="5029200"/>
          </a:xfrm>
          <a:prstGeom prst="ellipse">
            <a:avLst/>
          </a:prstGeom>
          <a:solidFill>
            <a:srgbClr val="141B4D"/>
          </a:solidFill>
          <a:ln/>
        </p:spPr>
      </p:sp>
      <p:sp>
        <p:nvSpPr>
          <p:cNvPr id="4" name="Shape 2"/>
          <p:cNvSpPr/>
          <p:nvPr/>
        </p:nvSpPr>
        <p:spPr>
          <a:xfrm>
            <a:off x="5592928" y="868680"/>
            <a:ext cx="1005840" cy="1005840"/>
          </a:xfrm>
          <a:prstGeom prst="ellipse">
            <a:avLst/>
          </a:prstGeom>
          <a:solidFill>
            <a:srgbClr val="141B4D"/>
          </a:solidFill>
          <a:ln/>
        </p:spPr>
      </p:sp>
      <p:pic>
        <p:nvPicPr>
          <p:cNvPr id="5" name="Image 0" descr="icons/movie_white.png">    </p:cNvPr>
          <p:cNvPicPr>
            <a:picLocks noChangeAspect="1"/>
          </p:cNvPicPr>
          <p:nvPr/>
        </p:nvPicPr>
        <p:blipFill>
          <a:blip r:embed="rId1"/>
          <a:stretch>
            <a:fillRect/>
          </a:stretch>
        </p:blipFill>
        <p:spPr>
          <a:xfrm>
            <a:off x="5854446" y="1130198"/>
            <a:ext cx="482803" cy="482803"/>
          </a:xfrm>
          <a:prstGeom prst="rect">
            <a:avLst/>
          </a:prstGeom>
        </p:spPr>
      </p:pic>
      <p:sp>
        <p:nvSpPr>
          <p:cNvPr id="6" name="Text 3"/>
          <p:cNvSpPr/>
          <p:nvPr/>
        </p:nvSpPr>
        <p:spPr>
          <a:xfrm>
            <a:off x="731520" y="2148840"/>
            <a:ext cx="10728655" cy="1188720"/>
          </a:xfrm>
          <a:prstGeom prst="rect">
            <a:avLst/>
          </a:prstGeom>
          <a:noFill/>
          <a:ln/>
        </p:spPr>
        <p:txBody>
          <a:bodyPr wrap="square" rtlCol="0" anchor="ctr"/>
          <a:lstStyle/>
          <a:p>
            <a:pPr algn="ctr" indent="0" marL="0">
              <a:buNone/>
            </a:pPr>
            <a:r>
              <a:rPr lang="en-US" sz="3400" b="1" spc="100" kern="0" dirty="0">
                <a:solidFill>
                  <a:srgbClr val="FFFFFF"/>
                </a:solidFill>
                <a:latin typeface="Cambria" pitchFamily="34" charset="0"/>
                <a:ea typeface="Cambria" pitchFamily="34" charset="-122"/>
                <a:cs typeface="Cambria" pitchFamily="34" charset="-120"/>
              </a:rPr>
              <a:t>MOVIE THEATRE REVENUE &amp; OPERATIONS ANALYTICS</a:t>
            </a:r>
            <a:endParaRPr lang="en-US" sz="3400" dirty="0"/>
          </a:p>
        </p:txBody>
      </p:sp>
      <p:sp>
        <p:nvSpPr>
          <p:cNvPr id="7" name="Text 4"/>
          <p:cNvSpPr/>
          <p:nvPr/>
        </p:nvSpPr>
        <p:spPr>
          <a:xfrm>
            <a:off x="731520" y="3246120"/>
            <a:ext cx="10728655" cy="457200"/>
          </a:xfrm>
          <a:prstGeom prst="rect">
            <a:avLst/>
          </a:prstGeom>
          <a:noFill/>
          <a:ln/>
        </p:spPr>
        <p:txBody>
          <a:bodyPr wrap="square"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A Power BI Business Intelligence Solution</a:t>
            </a:r>
            <a:endParaRPr lang="en-US" sz="1600" dirty="0"/>
          </a:p>
        </p:txBody>
      </p:sp>
      <p:sp>
        <p:nvSpPr>
          <p:cNvPr id="8" name="Shape 5"/>
          <p:cNvSpPr/>
          <p:nvPr/>
        </p:nvSpPr>
        <p:spPr>
          <a:xfrm>
            <a:off x="4632808" y="3886200"/>
            <a:ext cx="2926080" cy="18288"/>
          </a:xfrm>
          <a:prstGeom prst="rect">
            <a:avLst/>
          </a:prstGeom>
          <a:solidFill>
            <a:srgbClr val="3A4590"/>
          </a:solidFill>
          <a:ln/>
        </p:spPr>
      </p:sp>
      <p:sp>
        <p:nvSpPr>
          <p:cNvPr id="9" name="Text 6"/>
          <p:cNvSpPr/>
          <p:nvPr/>
        </p:nvSpPr>
        <p:spPr>
          <a:xfrm>
            <a:off x="731520" y="4206240"/>
            <a:ext cx="10728655" cy="365760"/>
          </a:xfrm>
          <a:prstGeom prst="rect">
            <a:avLst/>
          </a:prstGeom>
          <a:noFill/>
          <a:ln/>
        </p:spPr>
        <p:txBody>
          <a:bodyPr wrap="square"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Client: </a:t>
            </a:r>
            <a:pPr algn="ctr" indent="0" marL="0">
              <a:buNone/>
            </a:pPr>
            <a:r>
              <a:rPr lang="en-US" sz="1500" dirty="0">
                <a:solidFill>
                  <a:srgbClr val="FFFFFF"/>
                </a:solidFill>
                <a:latin typeface="Calibri" pitchFamily="34" charset="0"/>
                <a:ea typeface="Calibri" pitchFamily="34" charset="-122"/>
                <a:cs typeface="Calibri" pitchFamily="34" charset="-120"/>
              </a:rPr>
              <a:t>CineMax Multiplex Pvt. Ltd.</a:t>
            </a:r>
            <a:endParaRPr lang="en-US" sz="1500" dirty="0"/>
          </a:p>
        </p:txBody>
      </p:sp>
      <p:sp>
        <p:nvSpPr>
          <p:cNvPr id="10" name="Text 7"/>
          <p:cNvSpPr/>
          <p:nvPr/>
        </p:nvSpPr>
        <p:spPr>
          <a:xfrm>
            <a:off x="731520" y="4617720"/>
            <a:ext cx="10728655" cy="365760"/>
          </a:xfrm>
          <a:prstGeom prst="rect">
            <a:avLst/>
          </a:prstGeom>
          <a:noFill/>
          <a:ln/>
        </p:spPr>
        <p:txBody>
          <a:bodyPr wrap="square"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Presented by: </a:t>
            </a:r>
            <a:pPr algn="ctr" indent="0" marL="0">
              <a:buNone/>
            </a:pPr>
            <a:r>
              <a:rPr lang="en-US" sz="1500" dirty="0">
                <a:solidFill>
                  <a:srgbClr val="FFFFFF"/>
                </a:solidFill>
                <a:latin typeface="Calibri" pitchFamily="34" charset="0"/>
                <a:ea typeface="Calibri" pitchFamily="34" charset="-122"/>
                <a:cs typeface="Calibri" pitchFamily="34" charset="-120"/>
              </a:rPr>
              <a:t>Yogalakshmi</a:t>
            </a:r>
            <a:endParaRPr lang="en-US" sz="1500" dirty="0"/>
          </a:p>
        </p:txBody>
      </p:sp>
      <p:sp>
        <p:nvSpPr>
          <p:cNvPr id="11" name="Text 8"/>
          <p:cNvSpPr/>
          <p:nvPr/>
        </p:nvSpPr>
        <p:spPr>
          <a:xfrm>
            <a:off x="731520" y="5029200"/>
            <a:ext cx="10728655" cy="365760"/>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Business Intelligence Analyst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Business Background</a:t>
            </a:r>
            <a:endParaRPr lang="en-US" sz="3000" dirty="0"/>
          </a:p>
        </p:txBody>
      </p:sp>
      <p:sp>
        <p:nvSpPr>
          <p:cNvPr id="3" name="Text 1"/>
          <p:cNvSpPr/>
          <p:nvPr/>
        </p:nvSpPr>
        <p:spPr>
          <a:xfrm>
            <a:off x="548640" y="960120"/>
            <a:ext cx="11094415" cy="365760"/>
          </a:xfrm>
          <a:prstGeom prst="rect">
            <a:avLst/>
          </a:prstGeom>
          <a:noFill/>
          <a:ln/>
        </p:spPr>
        <p:txBody>
          <a:bodyPr wrap="square" rtlCol="0" anchor="ctr"/>
          <a:lstStyle/>
          <a:p>
            <a:pPr indent="0" marL="0">
              <a:buNone/>
            </a:pPr>
            <a:r>
              <a:rPr lang="en-US" sz="1400" i="1" dirty="0">
                <a:solidFill>
                  <a:srgbClr val="5B6785"/>
                </a:solidFill>
                <a:latin typeface="Calibri" pitchFamily="34" charset="0"/>
                <a:ea typeface="Calibri" pitchFamily="34" charset="-122"/>
                <a:cs typeface="Calibri" pitchFamily="34" charset="-120"/>
              </a:rPr>
              <a:t>Understanding CineMax's data landscape</a:t>
            </a:r>
            <a:endParaRPr lang="en-US" sz="1400" dirty="0"/>
          </a:p>
        </p:txBody>
      </p:sp>
      <p:sp>
        <p:nvSpPr>
          <p:cNvPr id="4" name="Shape 2"/>
          <p:cNvSpPr/>
          <p:nvPr/>
        </p:nvSpPr>
        <p:spPr>
          <a:xfrm>
            <a:off x="548640" y="1600200"/>
            <a:ext cx="2615184" cy="3246120"/>
          </a:xfrm>
          <a:prstGeom prst="roundRect">
            <a:avLst>
              <a:gd name="adj" fmla="val 3147"/>
            </a:avLst>
          </a:prstGeom>
          <a:solidFill>
            <a:srgbClr val="F4F7FD"/>
          </a:solidFill>
          <a:ln/>
          <a:effectLst>
            <a:outerShdw sx="100000" sy="100000" kx="0" ky="0" algn="bl" rotWithShape="0" blurRad="101600" dist="38100" dir="5400000">
              <a:srgbClr val="9AA6C7">
                <a:alpha val="35000"/>
              </a:srgbClr>
            </a:outerShdw>
          </a:effectLst>
        </p:spPr>
      </p:sp>
      <p:sp>
        <p:nvSpPr>
          <p:cNvPr id="5" name="Shape 3"/>
          <p:cNvSpPr/>
          <p:nvPr/>
        </p:nvSpPr>
        <p:spPr>
          <a:xfrm>
            <a:off x="1444752" y="1920240"/>
            <a:ext cx="822960" cy="822960"/>
          </a:xfrm>
          <a:prstGeom prst="ellipse">
            <a:avLst/>
          </a:prstGeom>
          <a:solidFill>
            <a:srgbClr val="1E2761"/>
          </a:solidFill>
          <a:ln/>
        </p:spPr>
      </p:sp>
      <p:pic>
        <p:nvPicPr>
          <p:cNvPr id="6" name="Image 0" descr="icons/theatre_white.png">    </p:cNvPr>
          <p:cNvPicPr>
            <a:picLocks noChangeAspect="1"/>
          </p:cNvPicPr>
          <p:nvPr/>
        </p:nvPicPr>
        <p:blipFill>
          <a:blip r:embed="rId1"/>
          <a:stretch>
            <a:fillRect/>
          </a:stretch>
        </p:blipFill>
        <p:spPr>
          <a:xfrm>
            <a:off x="1658722" y="2134210"/>
            <a:ext cx="395021" cy="395021"/>
          </a:xfrm>
          <a:prstGeom prst="rect">
            <a:avLst/>
          </a:prstGeom>
        </p:spPr>
      </p:pic>
      <p:sp>
        <p:nvSpPr>
          <p:cNvPr id="7" name="Text 4"/>
          <p:cNvSpPr/>
          <p:nvPr/>
        </p:nvSpPr>
        <p:spPr>
          <a:xfrm>
            <a:off x="713232" y="2926080"/>
            <a:ext cx="2286000" cy="640080"/>
          </a:xfrm>
          <a:prstGeom prst="rect">
            <a:avLst/>
          </a:prstGeom>
          <a:noFill/>
          <a:ln/>
        </p:spPr>
        <p:txBody>
          <a:bodyPr wrap="square" rtlCol="0" anchor="t"/>
          <a:lstStyle/>
          <a:p>
            <a:pPr algn="ctr" indent="0" marL="0">
              <a:buNone/>
            </a:pPr>
            <a:r>
              <a:rPr lang="en-US" sz="1450" b="1" dirty="0">
                <a:solidFill>
                  <a:srgbClr val="1E2761"/>
                </a:solidFill>
                <a:latin typeface="Calibri" pitchFamily="34" charset="0"/>
                <a:ea typeface="Calibri" pitchFamily="34" charset="-122"/>
                <a:cs typeface="Calibri" pitchFamily="34" charset="-120"/>
              </a:rPr>
              <a:t>Multi-Theatre Operations</a:t>
            </a:r>
            <a:endParaRPr lang="en-US" sz="1450" dirty="0"/>
          </a:p>
        </p:txBody>
      </p:sp>
      <p:sp>
        <p:nvSpPr>
          <p:cNvPr id="8" name="Text 5"/>
          <p:cNvSpPr/>
          <p:nvPr/>
        </p:nvSpPr>
        <p:spPr>
          <a:xfrm>
            <a:off x="768096" y="3566160"/>
            <a:ext cx="2176272" cy="1188720"/>
          </a:xfrm>
          <a:prstGeom prst="rect">
            <a:avLst/>
          </a:prstGeom>
          <a:noFill/>
          <a:ln/>
        </p:spPr>
        <p:txBody>
          <a:bodyPr wrap="square" rtlCol="0" anchor="t"/>
          <a:lstStyle/>
          <a:p>
            <a:pPr algn="ctr" indent="0" marL="0">
              <a:lnSpc>
                <a:spcPct val="115000"/>
              </a:lnSpc>
              <a:buNone/>
            </a:pPr>
            <a:r>
              <a:rPr lang="en-US" sz="1150" dirty="0">
                <a:solidFill>
                  <a:srgbClr val="5B6785"/>
                </a:solidFill>
                <a:latin typeface="Calibri" pitchFamily="34" charset="0"/>
                <a:ea typeface="Calibri" pitchFamily="34" charset="-122"/>
                <a:cs typeface="Calibri" pitchFamily="34" charset="-120"/>
              </a:rPr>
              <a:t>CineMax operates multiple theatres across Tamil Nadu, serving thousands of moviegoers.</a:t>
            </a:r>
            <a:endParaRPr lang="en-US" sz="1150" dirty="0"/>
          </a:p>
        </p:txBody>
      </p:sp>
      <p:sp>
        <p:nvSpPr>
          <p:cNvPr id="9" name="Shape 6"/>
          <p:cNvSpPr/>
          <p:nvPr/>
        </p:nvSpPr>
        <p:spPr>
          <a:xfrm>
            <a:off x="3419856" y="1600200"/>
            <a:ext cx="2615184" cy="3246120"/>
          </a:xfrm>
          <a:prstGeom prst="roundRect">
            <a:avLst>
              <a:gd name="adj" fmla="val 3147"/>
            </a:avLst>
          </a:prstGeom>
          <a:solidFill>
            <a:srgbClr val="F4F7FD"/>
          </a:solidFill>
          <a:ln/>
          <a:effectLst>
            <a:outerShdw sx="100000" sy="100000" kx="0" ky="0" algn="bl" rotWithShape="0" blurRad="101600" dist="38100" dir="5400000">
              <a:srgbClr val="9AA6C7">
                <a:alpha val="35000"/>
              </a:srgbClr>
            </a:outerShdw>
          </a:effectLst>
        </p:spPr>
      </p:sp>
      <p:sp>
        <p:nvSpPr>
          <p:cNvPr id="10" name="Shape 7"/>
          <p:cNvSpPr/>
          <p:nvPr/>
        </p:nvSpPr>
        <p:spPr>
          <a:xfrm>
            <a:off x="4315968" y="1920240"/>
            <a:ext cx="822960" cy="822960"/>
          </a:xfrm>
          <a:prstGeom prst="ellipse">
            <a:avLst/>
          </a:prstGeom>
          <a:solidFill>
            <a:srgbClr val="1E2761"/>
          </a:solidFill>
          <a:ln/>
        </p:spPr>
      </p:sp>
      <p:pic>
        <p:nvPicPr>
          <p:cNvPr id="11" name="Image 1" descr="icons/money_white.png">    </p:cNvPr>
          <p:cNvPicPr>
            <a:picLocks noChangeAspect="1"/>
          </p:cNvPicPr>
          <p:nvPr/>
        </p:nvPicPr>
        <p:blipFill>
          <a:blip r:embed="rId2"/>
          <a:stretch>
            <a:fillRect/>
          </a:stretch>
        </p:blipFill>
        <p:spPr>
          <a:xfrm>
            <a:off x="4529938" y="2134210"/>
            <a:ext cx="395021" cy="395021"/>
          </a:xfrm>
          <a:prstGeom prst="rect">
            <a:avLst/>
          </a:prstGeom>
        </p:spPr>
      </p:pic>
      <p:sp>
        <p:nvSpPr>
          <p:cNvPr id="12" name="Text 8"/>
          <p:cNvSpPr/>
          <p:nvPr/>
        </p:nvSpPr>
        <p:spPr>
          <a:xfrm>
            <a:off x="3584448" y="2926080"/>
            <a:ext cx="2286000" cy="640080"/>
          </a:xfrm>
          <a:prstGeom prst="rect">
            <a:avLst/>
          </a:prstGeom>
          <a:noFill/>
          <a:ln/>
        </p:spPr>
        <p:txBody>
          <a:bodyPr wrap="square" rtlCol="0" anchor="t"/>
          <a:lstStyle/>
          <a:p>
            <a:pPr algn="ctr" indent="0" marL="0">
              <a:buNone/>
            </a:pPr>
            <a:r>
              <a:rPr lang="en-US" sz="1450" b="1" dirty="0">
                <a:solidFill>
                  <a:srgbClr val="1E2761"/>
                </a:solidFill>
                <a:latin typeface="Calibri" pitchFamily="34" charset="0"/>
                <a:ea typeface="Calibri" pitchFamily="34" charset="-122"/>
                <a:cs typeface="Calibri" pitchFamily="34" charset="-120"/>
              </a:rPr>
              <a:t>High-Volume Transactions</a:t>
            </a:r>
            <a:endParaRPr lang="en-US" sz="1450" dirty="0"/>
          </a:p>
        </p:txBody>
      </p:sp>
      <p:sp>
        <p:nvSpPr>
          <p:cNvPr id="13" name="Text 9"/>
          <p:cNvSpPr/>
          <p:nvPr/>
        </p:nvSpPr>
        <p:spPr>
          <a:xfrm>
            <a:off x="3639312" y="3566160"/>
            <a:ext cx="2176272" cy="1188720"/>
          </a:xfrm>
          <a:prstGeom prst="rect">
            <a:avLst/>
          </a:prstGeom>
          <a:noFill/>
          <a:ln/>
        </p:spPr>
        <p:txBody>
          <a:bodyPr wrap="square" rtlCol="0" anchor="t"/>
          <a:lstStyle/>
          <a:p>
            <a:pPr algn="ctr" indent="0" marL="0">
              <a:lnSpc>
                <a:spcPct val="115000"/>
              </a:lnSpc>
              <a:buNone/>
            </a:pPr>
            <a:r>
              <a:rPr lang="en-US" sz="1150" dirty="0">
                <a:solidFill>
                  <a:srgbClr val="5B6785"/>
                </a:solidFill>
                <a:latin typeface="Calibri" pitchFamily="34" charset="0"/>
                <a:ea typeface="Calibri" pitchFamily="34" charset="-122"/>
                <a:cs typeface="Calibri" pitchFamily="34" charset="-120"/>
              </a:rPr>
              <a:t>Large volumes of ticket sales, food sales, bookings, and promotions are generated daily.</a:t>
            </a:r>
            <a:endParaRPr lang="en-US" sz="1150" dirty="0"/>
          </a:p>
        </p:txBody>
      </p:sp>
      <p:sp>
        <p:nvSpPr>
          <p:cNvPr id="14" name="Shape 10"/>
          <p:cNvSpPr/>
          <p:nvPr/>
        </p:nvSpPr>
        <p:spPr>
          <a:xfrm>
            <a:off x="6291072" y="1600200"/>
            <a:ext cx="2615184" cy="3246120"/>
          </a:xfrm>
          <a:prstGeom prst="roundRect">
            <a:avLst>
              <a:gd name="adj" fmla="val 3147"/>
            </a:avLst>
          </a:prstGeom>
          <a:solidFill>
            <a:srgbClr val="F4F7FD"/>
          </a:solidFill>
          <a:ln/>
          <a:effectLst>
            <a:outerShdw sx="100000" sy="100000" kx="0" ky="0" algn="bl" rotWithShape="0" blurRad="101600" dist="38100" dir="5400000">
              <a:srgbClr val="9AA6C7">
                <a:alpha val="35000"/>
              </a:srgbClr>
            </a:outerShdw>
          </a:effectLst>
        </p:spPr>
      </p:sp>
      <p:sp>
        <p:nvSpPr>
          <p:cNvPr id="15" name="Shape 11"/>
          <p:cNvSpPr/>
          <p:nvPr/>
        </p:nvSpPr>
        <p:spPr>
          <a:xfrm>
            <a:off x="7187184" y="1920240"/>
            <a:ext cx="822960" cy="822960"/>
          </a:xfrm>
          <a:prstGeom prst="ellipse">
            <a:avLst/>
          </a:prstGeom>
          <a:solidFill>
            <a:srgbClr val="1E2761"/>
          </a:solidFill>
          <a:ln/>
        </p:spPr>
      </p:sp>
      <p:pic>
        <p:nvPicPr>
          <p:cNvPr id="16" name="Image 2" descr="icons/storage_white.png">    </p:cNvPr>
          <p:cNvPicPr>
            <a:picLocks noChangeAspect="1"/>
          </p:cNvPicPr>
          <p:nvPr/>
        </p:nvPicPr>
        <p:blipFill>
          <a:blip r:embed="rId3"/>
          <a:stretch>
            <a:fillRect/>
          </a:stretch>
        </p:blipFill>
        <p:spPr>
          <a:xfrm>
            <a:off x="7401154" y="2134210"/>
            <a:ext cx="395021" cy="395021"/>
          </a:xfrm>
          <a:prstGeom prst="rect">
            <a:avLst/>
          </a:prstGeom>
        </p:spPr>
      </p:pic>
      <p:sp>
        <p:nvSpPr>
          <p:cNvPr id="17" name="Text 12"/>
          <p:cNvSpPr/>
          <p:nvPr/>
        </p:nvSpPr>
        <p:spPr>
          <a:xfrm>
            <a:off x="6455664" y="2926080"/>
            <a:ext cx="2286000" cy="640080"/>
          </a:xfrm>
          <a:prstGeom prst="rect">
            <a:avLst/>
          </a:prstGeom>
          <a:noFill/>
          <a:ln/>
        </p:spPr>
        <p:txBody>
          <a:bodyPr wrap="square" rtlCol="0" anchor="t"/>
          <a:lstStyle/>
          <a:p>
            <a:pPr algn="ctr" indent="0" marL="0">
              <a:buNone/>
            </a:pPr>
            <a:r>
              <a:rPr lang="en-US" sz="1450" b="1" dirty="0">
                <a:solidFill>
                  <a:srgbClr val="1E2761"/>
                </a:solidFill>
                <a:latin typeface="Calibri" pitchFamily="34" charset="0"/>
                <a:ea typeface="Calibri" pitchFamily="34" charset="-122"/>
                <a:cs typeface="Calibri" pitchFamily="34" charset="-120"/>
              </a:rPr>
              <a:t>Scattered Data Sources</a:t>
            </a:r>
            <a:endParaRPr lang="en-US" sz="1450" dirty="0"/>
          </a:p>
        </p:txBody>
      </p:sp>
      <p:sp>
        <p:nvSpPr>
          <p:cNvPr id="18" name="Text 13"/>
          <p:cNvSpPr/>
          <p:nvPr/>
        </p:nvSpPr>
        <p:spPr>
          <a:xfrm>
            <a:off x="6510528" y="3566160"/>
            <a:ext cx="2176272" cy="1188720"/>
          </a:xfrm>
          <a:prstGeom prst="rect">
            <a:avLst/>
          </a:prstGeom>
          <a:noFill/>
          <a:ln/>
        </p:spPr>
        <p:txBody>
          <a:bodyPr wrap="square" rtlCol="0" anchor="t"/>
          <a:lstStyle/>
          <a:p>
            <a:pPr algn="ctr" indent="0" marL="0">
              <a:lnSpc>
                <a:spcPct val="115000"/>
              </a:lnSpc>
              <a:buNone/>
            </a:pPr>
            <a:r>
              <a:rPr lang="en-US" sz="1150" dirty="0">
                <a:solidFill>
                  <a:srgbClr val="5B6785"/>
                </a:solidFill>
                <a:latin typeface="Calibri" pitchFamily="34" charset="0"/>
                <a:ea typeface="Calibri" pitchFamily="34" charset="-122"/>
                <a:cs typeface="Calibri" pitchFamily="34" charset="-120"/>
              </a:rPr>
              <a:t>Data was stored across multiple Excel files, making consolidation slow and error-prone.</a:t>
            </a:r>
            <a:endParaRPr lang="en-US" sz="1150" dirty="0"/>
          </a:p>
        </p:txBody>
      </p:sp>
      <p:sp>
        <p:nvSpPr>
          <p:cNvPr id="19" name="Shape 14"/>
          <p:cNvSpPr/>
          <p:nvPr/>
        </p:nvSpPr>
        <p:spPr>
          <a:xfrm>
            <a:off x="9162288" y="1600200"/>
            <a:ext cx="2615184" cy="3246120"/>
          </a:xfrm>
          <a:prstGeom prst="roundRect">
            <a:avLst>
              <a:gd name="adj" fmla="val 3147"/>
            </a:avLst>
          </a:prstGeom>
          <a:solidFill>
            <a:srgbClr val="F4F7FD"/>
          </a:solidFill>
          <a:ln/>
          <a:effectLst>
            <a:outerShdw sx="100000" sy="100000" kx="0" ky="0" algn="bl" rotWithShape="0" blurRad="101600" dist="38100" dir="5400000">
              <a:srgbClr val="9AA6C7">
                <a:alpha val="35000"/>
              </a:srgbClr>
            </a:outerShdw>
          </a:effectLst>
        </p:spPr>
      </p:sp>
      <p:sp>
        <p:nvSpPr>
          <p:cNvPr id="20" name="Shape 15"/>
          <p:cNvSpPr/>
          <p:nvPr/>
        </p:nvSpPr>
        <p:spPr>
          <a:xfrm>
            <a:off x="10058400" y="1920240"/>
            <a:ext cx="822960" cy="822960"/>
          </a:xfrm>
          <a:prstGeom prst="ellipse">
            <a:avLst/>
          </a:prstGeom>
          <a:solidFill>
            <a:srgbClr val="1E2761"/>
          </a:solidFill>
          <a:ln/>
        </p:spPr>
      </p:sp>
      <p:pic>
        <p:nvPicPr>
          <p:cNvPr id="21" name="Image 3" descr="icons/people_white.png">    </p:cNvPr>
          <p:cNvPicPr>
            <a:picLocks noChangeAspect="1"/>
          </p:cNvPicPr>
          <p:nvPr/>
        </p:nvPicPr>
        <p:blipFill>
          <a:blip r:embed="rId4"/>
          <a:stretch>
            <a:fillRect/>
          </a:stretch>
        </p:blipFill>
        <p:spPr>
          <a:xfrm>
            <a:off x="10272370" y="2134210"/>
            <a:ext cx="395021" cy="395021"/>
          </a:xfrm>
          <a:prstGeom prst="rect">
            <a:avLst/>
          </a:prstGeom>
        </p:spPr>
      </p:pic>
      <p:sp>
        <p:nvSpPr>
          <p:cNvPr id="22" name="Text 16"/>
          <p:cNvSpPr/>
          <p:nvPr/>
        </p:nvSpPr>
        <p:spPr>
          <a:xfrm>
            <a:off x="9326880" y="2926080"/>
            <a:ext cx="2286000" cy="640080"/>
          </a:xfrm>
          <a:prstGeom prst="rect">
            <a:avLst/>
          </a:prstGeom>
          <a:noFill/>
          <a:ln/>
        </p:spPr>
        <p:txBody>
          <a:bodyPr wrap="square" rtlCol="0" anchor="t"/>
          <a:lstStyle/>
          <a:p>
            <a:pPr algn="ctr" indent="0" marL="0">
              <a:buNone/>
            </a:pPr>
            <a:r>
              <a:rPr lang="en-US" sz="1450" b="1" dirty="0">
                <a:solidFill>
                  <a:srgbClr val="1E2761"/>
                </a:solidFill>
                <a:latin typeface="Calibri" pitchFamily="34" charset="0"/>
                <a:ea typeface="Calibri" pitchFamily="34" charset="-122"/>
                <a:cs typeface="Calibri" pitchFamily="34" charset="-120"/>
              </a:rPr>
              <a:t>No Central Reporting</a:t>
            </a:r>
            <a:endParaRPr lang="en-US" sz="1450" dirty="0"/>
          </a:p>
        </p:txBody>
      </p:sp>
      <p:sp>
        <p:nvSpPr>
          <p:cNvPr id="23" name="Text 17"/>
          <p:cNvSpPr/>
          <p:nvPr/>
        </p:nvSpPr>
        <p:spPr>
          <a:xfrm>
            <a:off x="9381744" y="3566160"/>
            <a:ext cx="2176272" cy="1188720"/>
          </a:xfrm>
          <a:prstGeom prst="rect">
            <a:avLst/>
          </a:prstGeom>
          <a:noFill/>
          <a:ln/>
        </p:spPr>
        <p:txBody>
          <a:bodyPr wrap="square" rtlCol="0" anchor="t"/>
          <a:lstStyle/>
          <a:p>
            <a:pPr algn="ctr" indent="0" marL="0">
              <a:lnSpc>
                <a:spcPct val="115000"/>
              </a:lnSpc>
              <a:buNone/>
            </a:pPr>
            <a:r>
              <a:rPr lang="en-US" sz="1150" dirty="0">
                <a:solidFill>
                  <a:srgbClr val="5B6785"/>
                </a:solidFill>
                <a:latin typeface="Calibri" pitchFamily="34" charset="0"/>
                <a:ea typeface="Calibri" pitchFamily="34" charset="-122"/>
                <a:cs typeface="Calibri" pitchFamily="34" charset="-120"/>
              </a:rPr>
              <a:t>Management lacked a centralized reporting system to view customer and business data.</a:t>
            </a:r>
            <a:endParaRPr lang="en-US" sz="1150" dirty="0"/>
          </a:p>
        </p:txBody>
      </p:sp>
      <p:sp>
        <p:nvSpPr>
          <p:cNvPr id="24" name="Text 18"/>
          <p:cNvSpPr/>
          <p:nvPr/>
        </p:nvSpPr>
        <p:spPr>
          <a:xfrm>
            <a:off x="457200" y="6492240"/>
            <a:ext cx="73152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CineMax Multiplex Pvt. Ltd.  |  Movie Theatre Revenue &amp; Operations Analytics</a:t>
            </a:r>
            <a:endParaRPr lang="en-US" sz="900" dirty="0"/>
          </a:p>
        </p:txBody>
      </p:sp>
      <p:sp>
        <p:nvSpPr>
          <p:cNvPr id="25" name="Text 19"/>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64008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Business Problem &amp; Project Objective</a:t>
            </a:r>
            <a:endParaRPr lang="en-US" sz="2800" dirty="0"/>
          </a:p>
        </p:txBody>
      </p:sp>
      <p:sp>
        <p:nvSpPr>
          <p:cNvPr id="3" name="Shape 1"/>
          <p:cNvSpPr/>
          <p:nvPr/>
        </p:nvSpPr>
        <p:spPr>
          <a:xfrm>
            <a:off x="548640" y="1325880"/>
            <a:ext cx="5364328" cy="4937760"/>
          </a:xfrm>
          <a:prstGeom prst="roundRect">
            <a:avLst>
              <a:gd name="adj" fmla="val 1852"/>
            </a:avLst>
          </a:prstGeom>
          <a:solidFill>
            <a:srgbClr val="1E2761"/>
          </a:solidFill>
          <a:ln/>
        </p:spPr>
      </p:sp>
      <p:sp>
        <p:nvSpPr>
          <p:cNvPr id="4" name="Shape 2"/>
          <p:cNvSpPr/>
          <p:nvPr/>
        </p:nvSpPr>
        <p:spPr>
          <a:xfrm>
            <a:off x="868680" y="1645920"/>
            <a:ext cx="594360" cy="594360"/>
          </a:xfrm>
          <a:prstGeom prst="ellipse">
            <a:avLst/>
          </a:prstGeom>
          <a:solidFill>
            <a:srgbClr val="C0392B"/>
          </a:solidFill>
          <a:ln/>
        </p:spPr>
      </p:sp>
      <p:pic>
        <p:nvPicPr>
          <p:cNvPr id="5" name="Image 0" descr="icons/warning_white.png">    </p:cNvPr>
          <p:cNvPicPr>
            <a:picLocks noChangeAspect="1"/>
          </p:cNvPicPr>
          <p:nvPr/>
        </p:nvPicPr>
        <p:blipFill>
          <a:blip r:embed="rId1"/>
          <a:stretch>
            <a:fillRect/>
          </a:stretch>
        </p:blipFill>
        <p:spPr>
          <a:xfrm>
            <a:off x="1023214" y="1800454"/>
            <a:ext cx="285293" cy="285293"/>
          </a:xfrm>
          <a:prstGeom prst="rect">
            <a:avLst/>
          </a:prstGeom>
        </p:spPr>
      </p:pic>
      <p:sp>
        <p:nvSpPr>
          <p:cNvPr id="6" name="Text 3"/>
          <p:cNvSpPr/>
          <p:nvPr/>
        </p:nvSpPr>
        <p:spPr>
          <a:xfrm>
            <a:off x="1600200" y="1691640"/>
            <a:ext cx="4084168" cy="548640"/>
          </a:xfrm>
          <a:prstGeom prst="rect">
            <a:avLst/>
          </a:prstGeom>
          <a:noFill/>
          <a:ln/>
        </p:spPr>
        <p:txBody>
          <a:bodyPr wrap="square" rtlCol="0" anchor="ctr"/>
          <a:lstStyle/>
          <a:p>
            <a:pPr indent="0" marL="0">
              <a:buNone/>
            </a:pPr>
            <a:r>
              <a:rPr lang="en-US" sz="1700" b="1" spc="100" kern="0" dirty="0">
                <a:solidFill>
                  <a:srgbClr val="FFFFFF"/>
                </a:solidFill>
                <a:latin typeface="Calibri" pitchFamily="34" charset="0"/>
                <a:ea typeface="Calibri" pitchFamily="34" charset="-122"/>
                <a:cs typeface="Calibri" pitchFamily="34" charset="-120"/>
              </a:rPr>
              <a:t>BUSINESS PROBLEMS</a:t>
            </a:r>
            <a:endParaRPr lang="en-US" sz="1700" dirty="0"/>
          </a:p>
        </p:txBody>
      </p:sp>
      <p:sp>
        <p:nvSpPr>
          <p:cNvPr id="7" name="Shape 4"/>
          <p:cNvSpPr/>
          <p:nvPr/>
        </p:nvSpPr>
        <p:spPr>
          <a:xfrm>
            <a:off x="914400" y="2642616"/>
            <a:ext cx="109728" cy="109728"/>
          </a:xfrm>
          <a:prstGeom prst="ellipse">
            <a:avLst/>
          </a:prstGeom>
          <a:solidFill>
            <a:srgbClr val="CADCFC"/>
          </a:solidFill>
          <a:ln/>
        </p:spPr>
      </p:sp>
      <p:sp>
        <p:nvSpPr>
          <p:cNvPr id="8" name="Text 5"/>
          <p:cNvSpPr/>
          <p:nvPr/>
        </p:nvSpPr>
        <p:spPr>
          <a:xfrm>
            <a:off x="1188720" y="2441448"/>
            <a:ext cx="4404208" cy="54864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No centralized dashboard for reporting</a:t>
            </a:r>
            <a:endParaRPr lang="en-US" sz="1350" dirty="0"/>
          </a:p>
        </p:txBody>
      </p:sp>
      <p:sp>
        <p:nvSpPr>
          <p:cNvPr id="9" name="Shape 6"/>
          <p:cNvSpPr/>
          <p:nvPr/>
        </p:nvSpPr>
        <p:spPr>
          <a:xfrm>
            <a:off x="914400" y="3392424"/>
            <a:ext cx="109728" cy="109728"/>
          </a:xfrm>
          <a:prstGeom prst="ellipse">
            <a:avLst/>
          </a:prstGeom>
          <a:solidFill>
            <a:srgbClr val="CADCFC"/>
          </a:solidFill>
          <a:ln/>
        </p:spPr>
      </p:sp>
      <p:sp>
        <p:nvSpPr>
          <p:cNvPr id="10" name="Text 7"/>
          <p:cNvSpPr/>
          <p:nvPr/>
        </p:nvSpPr>
        <p:spPr>
          <a:xfrm>
            <a:off x="1188720" y="3191256"/>
            <a:ext cx="4404208" cy="54864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Difficult to identify top-performing movies</a:t>
            </a:r>
            <a:endParaRPr lang="en-US" sz="1350" dirty="0"/>
          </a:p>
        </p:txBody>
      </p:sp>
      <p:sp>
        <p:nvSpPr>
          <p:cNvPr id="11" name="Shape 8"/>
          <p:cNvSpPr/>
          <p:nvPr/>
        </p:nvSpPr>
        <p:spPr>
          <a:xfrm>
            <a:off x="914400" y="4142232"/>
            <a:ext cx="109728" cy="109728"/>
          </a:xfrm>
          <a:prstGeom prst="ellipse">
            <a:avLst/>
          </a:prstGeom>
          <a:solidFill>
            <a:srgbClr val="CADCFC"/>
          </a:solidFill>
          <a:ln/>
        </p:spPr>
      </p:sp>
      <p:sp>
        <p:nvSpPr>
          <p:cNvPr id="12" name="Text 9"/>
          <p:cNvSpPr/>
          <p:nvPr/>
        </p:nvSpPr>
        <p:spPr>
          <a:xfrm>
            <a:off x="1188720" y="3941064"/>
            <a:ext cx="4404208" cy="54864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Limited visibility into theatre occupancy</a:t>
            </a:r>
            <a:endParaRPr lang="en-US" sz="1350" dirty="0"/>
          </a:p>
        </p:txBody>
      </p:sp>
      <p:sp>
        <p:nvSpPr>
          <p:cNvPr id="13" name="Shape 10"/>
          <p:cNvSpPr/>
          <p:nvPr/>
        </p:nvSpPr>
        <p:spPr>
          <a:xfrm>
            <a:off x="914400" y="4892040"/>
            <a:ext cx="109728" cy="109728"/>
          </a:xfrm>
          <a:prstGeom prst="ellipse">
            <a:avLst/>
          </a:prstGeom>
          <a:solidFill>
            <a:srgbClr val="CADCFC"/>
          </a:solidFill>
          <a:ln/>
        </p:spPr>
      </p:sp>
      <p:sp>
        <p:nvSpPr>
          <p:cNvPr id="14" name="Text 11"/>
          <p:cNvSpPr/>
          <p:nvPr/>
        </p:nvSpPr>
        <p:spPr>
          <a:xfrm>
            <a:off x="1188720" y="4690872"/>
            <a:ext cx="4404208" cy="54864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Promotion effectiveness was unclear</a:t>
            </a:r>
            <a:endParaRPr lang="en-US" sz="1350" dirty="0"/>
          </a:p>
        </p:txBody>
      </p:sp>
      <p:sp>
        <p:nvSpPr>
          <p:cNvPr id="15" name="Shape 12"/>
          <p:cNvSpPr/>
          <p:nvPr/>
        </p:nvSpPr>
        <p:spPr>
          <a:xfrm>
            <a:off x="914400" y="5641848"/>
            <a:ext cx="109728" cy="109728"/>
          </a:xfrm>
          <a:prstGeom prst="ellipse">
            <a:avLst/>
          </a:prstGeom>
          <a:solidFill>
            <a:srgbClr val="CADCFC"/>
          </a:solidFill>
          <a:ln/>
        </p:spPr>
      </p:sp>
      <p:sp>
        <p:nvSpPr>
          <p:cNvPr id="16" name="Text 13"/>
          <p:cNvSpPr/>
          <p:nvPr/>
        </p:nvSpPr>
        <p:spPr>
          <a:xfrm>
            <a:off x="1188720" y="5440680"/>
            <a:ext cx="4404208" cy="54864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Manual reporting consumed valuable time</a:t>
            </a:r>
            <a:endParaRPr lang="en-US" sz="1350" dirty="0"/>
          </a:p>
        </p:txBody>
      </p:sp>
      <p:sp>
        <p:nvSpPr>
          <p:cNvPr id="17" name="Shape 14"/>
          <p:cNvSpPr/>
          <p:nvPr/>
        </p:nvSpPr>
        <p:spPr>
          <a:xfrm>
            <a:off x="6278728" y="1325880"/>
            <a:ext cx="5364328" cy="4937760"/>
          </a:xfrm>
          <a:prstGeom prst="roundRect">
            <a:avLst>
              <a:gd name="adj" fmla="val 1852"/>
            </a:avLst>
          </a:prstGeom>
          <a:solidFill>
            <a:srgbClr val="F4F7FD"/>
          </a:solidFill>
          <a:ln/>
        </p:spPr>
      </p:sp>
      <p:sp>
        <p:nvSpPr>
          <p:cNvPr id="18" name="Shape 15"/>
          <p:cNvSpPr/>
          <p:nvPr/>
        </p:nvSpPr>
        <p:spPr>
          <a:xfrm>
            <a:off x="6598768" y="1645920"/>
            <a:ext cx="594360" cy="594360"/>
          </a:xfrm>
          <a:prstGeom prst="ellipse">
            <a:avLst/>
          </a:prstGeom>
          <a:solidFill>
            <a:srgbClr val="1E8E5A"/>
          </a:solidFill>
          <a:ln/>
        </p:spPr>
      </p:sp>
      <p:pic>
        <p:nvPicPr>
          <p:cNvPr id="19" name="Image 1" descr="icons/check_white.png">    </p:cNvPr>
          <p:cNvPicPr>
            <a:picLocks noChangeAspect="1"/>
          </p:cNvPicPr>
          <p:nvPr/>
        </p:nvPicPr>
        <p:blipFill>
          <a:blip r:embed="rId2"/>
          <a:stretch>
            <a:fillRect/>
          </a:stretch>
        </p:blipFill>
        <p:spPr>
          <a:xfrm>
            <a:off x="6753301" y="1800454"/>
            <a:ext cx="285293" cy="285293"/>
          </a:xfrm>
          <a:prstGeom prst="rect">
            <a:avLst/>
          </a:prstGeom>
        </p:spPr>
      </p:pic>
      <p:sp>
        <p:nvSpPr>
          <p:cNvPr id="20" name="Text 16"/>
          <p:cNvSpPr/>
          <p:nvPr/>
        </p:nvSpPr>
        <p:spPr>
          <a:xfrm>
            <a:off x="7330288" y="1691640"/>
            <a:ext cx="4084168" cy="548640"/>
          </a:xfrm>
          <a:prstGeom prst="rect">
            <a:avLst/>
          </a:prstGeom>
          <a:noFill/>
          <a:ln/>
        </p:spPr>
        <p:txBody>
          <a:bodyPr wrap="square" rtlCol="0" anchor="ctr"/>
          <a:lstStyle/>
          <a:p>
            <a:pPr indent="0" marL="0">
              <a:buNone/>
            </a:pPr>
            <a:r>
              <a:rPr lang="en-US" sz="1700" b="1" spc="100" kern="0" dirty="0">
                <a:solidFill>
                  <a:srgbClr val="1E2761"/>
                </a:solidFill>
                <a:latin typeface="Calibri" pitchFamily="34" charset="0"/>
                <a:ea typeface="Calibri" pitchFamily="34" charset="-122"/>
                <a:cs typeface="Calibri" pitchFamily="34" charset="-120"/>
              </a:rPr>
              <a:t>PROJECT OBJECTIVES</a:t>
            </a:r>
            <a:endParaRPr lang="en-US" sz="1700" dirty="0"/>
          </a:p>
        </p:txBody>
      </p:sp>
      <p:sp>
        <p:nvSpPr>
          <p:cNvPr id="21" name="Shape 17"/>
          <p:cNvSpPr/>
          <p:nvPr/>
        </p:nvSpPr>
        <p:spPr>
          <a:xfrm>
            <a:off x="6644488" y="2642616"/>
            <a:ext cx="109728" cy="109728"/>
          </a:xfrm>
          <a:prstGeom prst="ellipse">
            <a:avLst/>
          </a:prstGeom>
          <a:solidFill>
            <a:srgbClr val="1E2761"/>
          </a:solidFill>
          <a:ln/>
        </p:spPr>
      </p:sp>
      <p:sp>
        <p:nvSpPr>
          <p:cNvPr id="22" name="Text 18"/>
          <p:cNvSpPr/>
          <p:nvPr/>
        </p:nvSpPr>
        <p:spPr>
          <a:xfrm>
            <a:off x="6918808" y="2441448"/>
            <a:ext cx="4404208" cy="548640"/>
          </a:xfrm>
          <a:prstGeom prst="rect">
            <a:avLst/>
          </a:prstGeom>
          <a:noFill/>
          <a:ln/>
        </p:spPr>
        <p:txBody>
          <a:bodyPr wrap="square" rtlCol="0" anchor="t"/>
          <a:lstStyle/>
          <a:p>
            <a:pPr indent="0" marL="0">
              <a:lnSpc>
                <a:spcPct val="110000"/>
              </a:lnSpc>
              <a:buNone/>
            </a:pPr>
            <a:r>
              <a:rPr lang="en-US" sz="1350" dirty="0">
                <a:solidFill>
                  <a:srgbClr val="141B4D"/>
                </a:solidFill>
                <a:latin typeface="Calibri" pitchFamily="34" charset="0"/>
                <a:ea typeface="Calibri" pitchFamily="34" charset="-122"/>
                <a:cs typeface="Calibri" pitchFamily="34" charset="-120"/>
              </a:rPr>
              <a:t>Monitor revenue across theatres and movies</a:t>
            </a:r>
            <a:endParaRPr lang="en-US" sz="1350" dirty="0"/>
          </a:p>
        </p:txBody>
      </p:sp>
      <p:sp>
        <p:nvSpPr>
          <p:cNvPr id="23" name="Shape 19"/>
          <p:cNvSpPr/>
          <p:nvPr/>
        </p:nvSpPr>
        <p:spPr>
          <a:xfrm>
            <a:off x="6644488" y="3392424"/>
            <a:ext cx="109728" cy="109728"/>
          </a:xfrm>
          <a:prstGeom prst="ellipse">
            <a:avLst/>
          </a:prstGeom>
          <a:solidFill>
            <a:srgbClr val="1E2761"/>
          </a:solidFill>
          <a:ln/>
        </p:spPr>
      </p:sp>
      <p:sp>
        <p:nvSpPr>
          <p:cNvPr id="24" name="Text 20"/>
          <p:cNvSpPr/>
          <p:nvPr/>
        </p:nvSpPr>
        <p:spPr>
          <a:xfrm>
            <a:off x="6918808" y="3191256"/>
            <a:ext cx="4404208" cy="548640"/>
          </a:xfrm>
          <a:prstGeom prst="rect">
            <a:avLst/>
          </a:prstGeom>
          <a:noFill/>
          <a:ln/>
        </p:spPr>
        <p:txBody>
          <a:bodyPr wrap="square" rtlCol="0" anchor="t"/>
          <a:lstStyle/>
          <a:p>
            <a:pPr indent="0" marL="0">
              <a:lnSpc>
                <a:spcPct val="110000"/>
              </a:lnSpc>
              <a:buNone/>
            </a:pPr>
            <a:r>
              <a:rPr lang="en-US" sz="1350" dirty="0">
                <a:solidFill>
                  <a:srgbClr val="141B4D"/>
                </a:solidFill>
                <a:latin typeface="Calibri" pitchFamily="34" charset="0"/>
                <a:ea typeface="Calibri" pitchFamily="34" charset="-122"/>
                <a:cs typeface="Calibri" pitchFamily="34" charset="-120"/>
              </a:rPr>
              <a:t>Analyze customer behaviour and preferences</a:t>
            </a:r>
            <a:endParaRPr lang="en-US" sz="1350" dirty="0"/>
          </a:p>
        </p:txBody>
      </p:sp>
      <p:sp>
        <p:nvSpPr>
          <p:cNvPr id="25" name="Shape 21"/>
          <p:cNvSpPr/>
          <p:nvPr/>
        </p:nvSpPr>
        <p:spPr>
          <a:xfrm>
            <a:off x="6644488" y="4142232"/>
            <a:ext cx="109728" cy="109728"/>
          </a:xfrm>
          <a:prstGeom prst="ellipse">
            <a:avLst/>
          </a:prstGeom>
          <a:solidFill>
            <a:srgbClr val="1E2761"/>
          </a:solidFill>
          <a:ln/>
        </p:spPr>
      </p:sp>
      <p:sp>
        <p:nvSpPr>
          <p:cNvPr id="26" name="Text 22"/>
          <p:cNvSpPr/>
          <p:nvPr/>
        </p:nvSpPr>
        <p:spPr>
          <a:xfrm>
            <a:off x="6918808" y="3941064"/>
            <a:ext cx="4404208" cy="548640"/>
          </a:xfrm>
          <a:prstGeom prst="rect">
            <a:avLst/>
          </a:prstGeom>
          <a:noFill/>
          <a:ln/>
        </p:spPr>
        <p:txBody>
          <a:bodyPr wrap="square" rtlCol="0" anchor="t"/>
          <a:lstStyle/>
          <a:p>
            <a:pPr indent="0" marL="0">
              <a:lnSpc>
                <a:spcPct val="110000"/>
              </a:lnSpc>
              <a:buNone/>
            </a:pPr>
            <a:r>
              <a:rPr lang="en-US" sz="1350" dirty="0">
                <a:solidFill>
                  <a:srgbClr val="141B4D"/>
                </a:solidFill>
                <a:latin typeface="Calibri" pitchFamily="34" charset="0"/>
                <a:ea typeface="Calibri" pitchFamily="34" charset="-122"/>
                <a:cs typeface="Calibri" pitchFamily="34" charset="-120"/>
              </a:rPr>
              <a:t>Track theatre performance and occupancy</a:t>
            </a:r>
            <a:endParaRPr lang="en-US" sz="1350" dirty="0"/>
          </a:p>
        </p:txBody>
      </p:sp>
      <p:sp>
        <p:nvSpPr>
          <p:cNvPr id="27" name="Shape 23"/>
          <p:cNvSpPr/>
          <p:nvPr/>
        </p:nvSpPr>
        <p:spPr>
          <a:xfrm>
            <a:off x="6644488" y="4892040"/>
            <a:ext cx="109728" cy="109728"/>
          </a:xfrm>
          <a:prstGeom prst="ellipse">
            <a:avLst/>
          </a:prstGeom>
          <a:solidFill>
            <a:srgbClr val="1E2761"/>
          </a:solidFill>
          <a:ln/>
        </p:spPr>
      </p:sp>
      <p:sp>
        <p:nvSpPr>
          <p:cNvPr id="28" name="Text 24"/>
          <p:cNvSpPr/>
          <p:nvPr/>
        </p:nvSpPr>
        <p:spPr>
          <a:xfrm>
            <a:off x="6918808" y="4690872"/>
            <a:ext cx="4404208" cy="548640"/>
          </a:xfrm>
          <a:prstGeom prst="rect">
            <a:avLst/>
          </a:prstGeom>
          <a:noFill/>
          <a:ln/>
        </p:spPr>
        <p:txBody>
          <a:bodyPr wrap="square" rtlCol="0" anchor="t"/>
          <a:lstStyle/>
          <a:p>
            <a:pPr indent="0" marL="0">
              <a:lnSpc>
                <a:spcPct val="110000"/>
              </a:lnSpc>
              <a:buNone/>
            </a:pPr>
            <a:r>
              <a:rPr lang="en-US" sz="1350" dirty="0">
                <a:solidFill>
                  <a:srgbClr val="141B4D"/>
                </a:solidFill>
                <a:latin typeface="Calibri" pitchFamily="34" charset="0"/>
                <a:ea typeface="Calibri" pitchFamily="34" charset="-122"/>
                <a:cs typeface="Calibri" pitchFamily="34" charset="-120"/>
              </a:rPr>
              <a:t>Improve operational efficiency</a:t>
            </a:r>
            <a:endParaRPr lang="en-US" sz="1350" dirty="0"/>
          </a:p>
        </p:txBody>
      </p:sp>
      <p:sp>
        <p:nvSpPr>
          <p:cNvPr id="29" name="Shape 25"/>
          <p:cNvSpPr/>
          <p:nvPr/>
        </p:nvSpPr>
        <p:spPr>
          <a:xfrm>
            <a:off x="6644488" y="5641848"/>
            <a:ext cx="109728" cy="109728"/>
          </a:xfrm>
          <a:prstGeom prst="ellipse">
            <a:avLst/>
          </a:prstGeom>
          <a:solidFill>
            <a:srgbClr val="1E2761"/>
          </a:solidFill>
          <a:ln/>
        </p:spPr>
      </p:sp>
      <p:sp>
        <p:nvSpPr>
          <p:cNvPr id="30" name="Text 26"/>
          <p:cNvSpPr/>
          <p:nvPr/>
        </p:nvSpPr>
        <p:spPr>
          <a:xfrm>
            <a:off x="6918808" y="5440680"/>
            <a:ext cx="4404208" cy="548640"/>
          </a:xfrm>
          <a:prstGeom prst="rect">
            <a:avLst/>
          </a:prstGeom>
          <a:noFill/>
          <a:ln/>
        </p:spPr>
        <p:txBody>
          <a:bodyPr wrap="square" rtlCol="0" anchor="t"/>
          <a:lstStyle/>
          <a:p>
            <a:pPr indent="0" marL="0">
              <a:lnSpc>
                <a:spcPct val="110000"/>
              </a:lnSpc>
              <a:buNone/>
            </a:pPr>
            <a:r>
              <a:rPr lang="en-US" sz="1350" dirty="0">
                <a:solidFill>
                  <a:srgbClr val="141B4D"/>
                </a:solidFill>
                <a:latin typeface="Calibri" pitchFamily="34" charset="0"/>
                <a:ea typeface="Calibri" pitchFamily="34" charset="-122"/>
                <a:cs typeface="Calibri" pitchFamily="34" charset="-120"/>
              </a:rPr>
              <a:t>Support data-driven decision making</a:t>
            </a:r>
            <a:endParaRPr lang="en-US" sz="1350" dirty="0"/>
          </a:p>
        </p:txBody>
      </p:sp>
      <p:sp>
        <p:nvSpPr>
          <p:cNvPr id="31" name="Text 27"/>
          <p:cNvSpPr/>
          <p:nvPr/>
        </p:nvSpPr>
        <p:spPr>
          <a:xfrm>
            <a:off x="457200" y="6492240"/>
            <a:ext cx="73152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CineMax Multiplex Pvt. Ltd.  |  Movie Theatre Revenue &amp; Operations Analytics</a:t>
            </a:r>
            <a:endParaRPr lang="en-US" sz="900" dirty="0"/>
          </a:p>
        </p:txBody>
      </p:sp>
      <p:sp>
        <p:nvSpPr>
          <p:cNvPr id="32" name="Text 28"/>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7295" cy="50292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Dashboard Overview</a:t>
            </a:r>
            <a:endParaRPr lang="en-US" sz="2600" dirty="0"/>
          </a:p>
        </p:txBody>
      </p:sp>
      <p:sp>
        <p:nvSpPr>
          <p:cNvPr id="3" name="Text 1"/>
          <p:cNvSpPr/>
          <p:nvPr/>
        </p:nvSpPr>
        <p:spPr>
          <a:xfrm>
            <a:off x="457200" y="713232"/>
            <a:ext cx="11277295" cy="320040"/>
          </a:xfrm>
          <a:prstGeom prst="rect">
            <a:avLst/>
          </a:prstGeom>
          <a:noFill/>
          <a:ln/>
        </p:spPr>
        <p:txBody>
          <a:bodyPr wrap="square" rtlCol="0" anchor="ctr"/>
          <a:lstStyle/>
          <a:p>
            <a:pPr indent="0" marL="0">
              <a:buNone/>
            </a:pPr>
            <a:r>
              <a:rPr lang="en-US" sz="1250" i="1" dirty="0">
                <a:solidFill>
                  <a:srgbClr val="5B6785"/>
                </a:solidFill>
                <a:latin typeface="Calibri" pitchFamily="34" charset="0"/>
                <a:ea typeface="Calibri" pitchFamily="34" charset="-122"/>
                <a:cs typeface="Calibri" pitchFamily="34" charset="-120"/>
              </a:rPr>
              <a:t>Four connected Power BI dashboards for a 360° business view</a:t>
            </a:r>
            <a:endParaRPr lang="en-US" sz="1250" dirty="0"/>
          </a:p>
        </p:txBody>
      </p:sp>
      <p:sp>
        <p:nvSpPr>
          <p:cNvPr id="4" name="Shape 2"/>
          <p:cNvSpPr/>
          <p:nvPr/>
        </p:nvSpPr>
        <p:spPr>
          <a:xfrm>
            <a:off x="502920" y="1170432"/>
            <a:ext cx="5440680" cy="2468880"/>
          </a:xfrm>
          <a:prstGeom prst="roundRect">
            <a:avLst>
              <a:gd name="adj" fmla="val 2593"/>
            </a:avLst>
          </a:prstGeom>
          <a:solidFill>
            <a:srgbClr val="F4F7FD"/>
          </a:solidFill>
          <a:ln w="12700">
            <a:solidFill>
              <a:srgbClr val="DCE3F5"/>
            </a:solidFill>
            <a:prstDash val="solid"/>
          </a:ln>
          <a:effectLst>
            <a:outerShdw sx="100000" sy="100000" kx="0" ky="0" algn="bl" rotWithShape="0" blurRad="76200" dist="25400" dir="5400000">
              <a:srgbClr val="9AA6C7">
                <a:alpha val="30000"/>
              </a:srgbClr>
            </a:outerShdw>
          </a:effectLst>
        </p:spPr>
      </p:sp>
      <p:sp>
        <p:nvSpPr>
          <p:cNvPr id="5" name="Shape 3"/>
          <p:cNvSpPr/>
          <p:nvPr/>
        </p:nvSpPr>
        <p:spPr>
          <a:xfrm>
            <a:off x="502920" y="1170432"/>
            <a:ext cx="5440680" cy="457200"/>
          </a:xfrm>
          <a:prstGeom prst="roundRect">
            <a:avLst>
              <a:gd name="adj" fmla="val 14000"/>
            </a:avLst>
          </a:prstGeom>
          <a:solidFill>
            <a:srgbClr val="1E2761"/>
          </a:solidFill>
          <a:ln/>
        </p:spPr>
      </p:sp>
      <p:sp>
        <p:nvSpPr>
          <p:cNvPr id="6" name="Shape 4"/>
          <p:cNvSpPr/>
          <p:nvPr/>
        </p:nvSpPr>
        <p:spPr>
          <a:xfrm>
            <a:off x="502920" y="1399032"/>
            <a:ext cx="5440680" cy="228600"/>
          </a:xfrm>
          <a:prstGeom prst="rect">
            <a:avLst/>
          </a:prstGeom>
          <a:solidFill>
            <a:srgbClr val="1E2761"/>
          </a:solidFill>
          <a:ln/>
        </p:spPr>
      </p:sp>
      <p:pic>
        <p:nvPicPr>
          <p:cNvPr id="7" name="Image 0" descr="icons/dashboard_white.png">    </p:cNvPr>
          <p:cNvPicPr>
            <a:picLocks noChangeAspect="1"/>
          </p:cNvPicPr>
          <p:nvPr/>
        </p:nvPicPr>
        <p:blipFill>
          <a:blip r:embed="rId1"/>
          <a:stretch>
            <a:fillRect/>
          </a:stretch>
        </p:blipFill>
        <p:spPr>
          <a:xfrm>
            <a:off x="630936" y="1261872"/>
            <a:ext cx="274320" cy="274320"/>
          </a:xfrm>
          <a:prstGeom prst="rect">
            <a:avLst/>
          </a:prstGeom>
        </p:spPr>
      </p:pic>
      <p:sp>
        <p:nvSpPr>
          <p:cNvPr id="8" name="Text 5"/>
          <p:cNvSpPr/>
          <p:nvPr/>
        </p:nvSpPr>
        <p:spPr>
          <a:xfrm>
            <a:off x="1005840" y="1170432"/>
            <a:ext cx="480060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Executive Dashboard</a:t>
            </a:r>
            <a:endParaRPr lang="en-US" sz="1350" dirty="0"/>
          </a:p>
        </p:txBody>
      </p:sp>
      <p:pic>
        <p:nvPicPr>
          <p:cNvPr id="9" name="Image 1" descr="assets/executive_dashboard.png">    </p:cNvPr>
          <p:cNvPicPr>
            <a:picLocks noChangeAspect="1"/>
          </p:cNvPicPr>
          <p:nvPr/>
        </p:nvPicPr>
        <p:blipFill>
          <a:blip r:embed="rId2"/>
          <a:srcRect l="0" r="0" t="0" b="0"/>
          <a:stretch/>
        </p:blipFill>
        <p:spPr>
          <a:xfrm>
            <a:off x="612648" y="1737360"/>
            <a:ext cx="5221224" cy="1600200"/>
          </a:xfrm>
          <a:prstGeom prst="rect">
            <a:avLst/>
          </a:prstGeom>
        </p:spPr>
      </p:pic>
      <p:sp>
        <p:nvSpPr>
          <p:cNvPr id="10" name="Text 6"/>
          <p:cNvSpPr/>
          <p:nvPr/>
        </p:nvSpPr>
        <p:spPr>
          <a:xfrm>
            <a:off x="630936" y="3355848"/>
            <a:ext cx="5184648" cy="384048"/>
          </a:xfrm>
          <a:prstGeom prst="rect">
            <a:avLst/>
          </a:prstGeom>
          <a:noFill/>
          <a:ln/>
        </p:spPr>
        <p:txBody>
          <a:bodyPr wrap="square" rtlCol="0" anchor="t"/>
          <a:lstStyle/>
          <a:p>
            <a:pPr indent="0" marL="0">
              <a:buNone/>
            </a:pPr>
            <a:r>
              <a:rPr lang="en-US" sz="950" i="1" dirty="0">
                <a:solidFill>
                  <a:srgbClr val="5B6785"/>
                </a:solidFill>
                <a:latin typeface="Calibri" pitchFamily="34" charset="0"/>
                <a:ea typeface="Calibri" pitchFamily="34" charset="-122"/>
                <a:cs typeface="Calibri" pitchFamily="34" charset="-120"/>
              </a:rPr>
              <a:t>KPIs, monthly revenue, revenue by movie and genre.</a:t>
            </a:r>
            <a:endParaRPr lang="en-US" sz="950" dirty="0"/>
          </a:p>
        </p:txBody>
      </p:sp>
      <p:sp>
        <p:nvSpPr>
          <p:cNvPr id="11" name="Shape 7"/>
          <p:cNvSpPr/>
          <p:nvPr/>
        </p:nvSpPr>
        <p:spPr>
          <a:xfrm>
            <a:off x="6263640" y="1170432"/>
            <a:ext cx="5440680" cy="2468880"/>
          </a:xfrm>
          <a:prstGeom prst="roundRect">
            <a:avLst>
              <a:gd name="adj" fmla="val 2593"/>
            </a:avLst>
          </a:prstGeom>
          <a:solidFill>
            <a:srgbClr val="F4F7FD"/>
          </a:solidFill>
          <a:ln w="12700">
            <a:solidFill>
              <a:srgbClr val="DCE3F5"/>
            </a:solidFill>
            <a:prstDash val="solid"/>
          </a:ln>
          <a:effectLst>
            <a:outerShdw sx="100000" sy="100000" kx="0" ky="0" algn="bl" rotWithShape="0" blurRad="76200" dist="25400" dir="5400000">
              <a:srgbClr val="9AA6C7">
                <a:alpha val="30000"/>
              </a:srgbClr>
            </a:outerShdw>
          </a:effectLst>
        </p:spPr>
      </p:sp>
      <p:sp>
        <p:nvSpPr>
          <p:cNvPr id="12" name="Shape 8"/>
          <p:cNvSpPr/>
          <p:nvPr/>
        </p:nvSpPr>
        <p:spPr>
          <a:xfrm>
            <a:off x="6263640" y="1170432"/>
            <a:ext cx="5440680" cy="457200"/>
          </a:xfrm>
          <a:prstGeom prst="roundRect">
            <a:avLst>
              <a:gd name="adj" fmla="val 14000"/>
            </a:avLst>
          </a:prstGeom>
          <a:solidFill>
            <a:srgbClr val="1E2761"/>
          </a:solidFill>
          <a:ln/>
        </p:spPr>
      </p:sp>
      <p:sp>
        <p:nvSpPr>
          <p:cNvPr id="13" name="Shape 9"/>
          <p:cNvSpPr/>
          <p:nvPr/>
        </p:nvSpPr>
        <p:spPr>
          <a:xfrm>
            <a:off x="6263640" y="1399032"/>
            <a:ext cx="5440680" cy="228600"/>
          </a:xfrm>
          <a:prstGeom prst="rect">
            <a:avLst/>
          </a:prstGeom>
          <a:solidFill>
            <a:srgbClr val="1E2761"/>
          </a:solidFill>
          <a:ln/>
        </p:spPr>
      </p:sp>
      <p:pic>
        <p:nvPicPr>
          <p:cNvPr id="14" name="Image 2" descr="icons/trending_white.png">    </p:cNvPr>
          <p:cNvPicPr>
            <a:picLocks noChangeAspect="1"/>
          </p:cNvPicPr>
          <p:nvPr/>
        </p:nvPicPr>
        <p:blipFill>
          <a:blip r:embed="rId3"/>
          <a:stretch>
            <a:fillRect/>
          </a:stretch>
        </p:blipFill>
        <p:spPr>
          <a:xfrm>
            <a:off x="6391656" y="1261872"/>
            <a:ext cx="274320" cy="274320"/>
          </a:xfrm>
          <a:prstGeom prst="rect">
            <a:avLst/>
          </a:prstGeom>
        </p:spPr>
      </p:pic>
      <p:sp>
        <p:nvSpPr>
          <p:cNvPr id="15" name="Text 10"/>
          <p:cNvSpPr/>
          <p:nvPr/>
        </p:nvSpPr>
        <p:spPr>
          <a:xfrm>
            <a:off x="6766560" y="1170432"/>
            <a:ext cx="480060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Revenue Analysis</a:t>
            </a:r>
            <a:endParaRPr lang="en-US" sz="1350" dirty="0"/>
          </a:p>
        </p:txBody>
      </p:sp>
      <p:pic>
        <p:nvPicPr>
          <p:cNvPr id="16" name="Image 3" descr="assets/revenue_analysis.png">    </p:cNvPr>
          <p:cNvPicPr>
            <a:picLocks noChangeAspect="1"/>
          </p:cNvPicPr>
          <p:nvPr/>
        </p:nvPicPr>
        <p:blipFill>
          <a:blip r:embed="rId4"/>
          <a:srcRect l="0" r="0" t="0" b="0"/>
          <a:stretch/>
        </p:blipFill>
        <p:spPr>
          <a:xfrm>
            <a:off x="6373368" y="1737360"/>
            <a:ext cx="5221224" cy="1600200"/>
          </a:xfrm>
          <a:prstGeom prst="rect">
            <a:avLst/>
          </a:prstGeom>
        </p:spPr>
      </p:pic>
      <p:sp>
        <p:nvSpPr>
          <p:cNvPr id="17" name="Text 11"/>
          <p:cNvSpPr/>
          <p:nvPr/>
        </p:nvSpPr>
        <p:spPr>
          <a:xfrm>
            <a:off x="6391656" y="3355848"/>
            <a:ext cx="5184648" cy="384048"/>
          </a:xfrm>
          <a:prstGeom prst="rect">
            <a:avLst/>
          </a:prstGeom>
          <a:noFill/>
          <a:ln/>
        </p:spPr>
        <p:txBody>
          <a:bodyPr wrap="square" rtlCol="0" anchor="t"/>
          <a:lstStyle/>
          <a:p>
            <a:pPr indent="0" marL="0">
              <a:buNone/>
            </a:pPr>
            <a:r>
              <a:rPr lang="en-US" sz="950" i="1" dirty="0">
                <a:solidFill>
                  <a:srgbClr val="5B6785"/>
                </a:solidFill>
                <a:latin typeface="Calibri" pitchFamily="34" charset="0"/>
                <a:ea typeface="Calibri" pitchFamily="34" charset="-122"/>
                <a:cs typeface="Calibri" pitchFamily="34" charset="-120"/>
              </a:rPr>
              <a:t>Revenue by language, director and theatre.</a:t>
            </a:r>
            <a:endParaRPr lang="en-US" sz="950" dirty="0"/>
          </a:p>
        </p:txBody>
      </p:sp>
      <p:sp>
        <p:nvSpPr>
          <p:cNvPr id="18" name="Shape 12"/>
          <p:cNvSpPr/>
          <p:nvPr/>
        </p:nvSpPr>
        <p:spPr>
          <a:xfrm>
            <a:off x="502920" y="3913632"/>
            <a:ext cx="5440680" cy="2468880"/>
          </a:xfrm>
          <a:prstGeom prst="roundRect">
            <a:avLst>
              <a:gd name="adj" fmla="val 2593"/>
            </a:avLst>
          </a:prstGeom>
          <a:solidFill>
            <a:srgbClr val="F4F7FD"/>
          </a:solidFill>
          <a:ln w="12700">
            <a:solidFill>
              <a:srgbClr val="DCE3F5"/>
            </a:solidFill>
            <a:prstDash val="solid"/>
          </a:ln>
          <a:effectLst>
            <a:outerShdw sx="100000" sy="100000" kx="0" ky="0" algn="bl" rotWithShape="0" blurRad="76200" dist="25400" dir="5400000">
              <a:srgbClr val="9AA6C7">
                <a:alpha val="30000"/>
              </a:srgbClr>
            </a:outerShdw>
          </a:effectLst>
        </p:spPr>
      </p:sp>
      <p:sp>
        <p:nvSpPr>
          <p:cNvPr id="19" name="Shape 13"/>
          <p:cNvSpPr/>
          <p:nvPr/>
        </p:nvSpPr>
        <p:spPr>
          <a:xfrm>
            <a:off x="502920" y="3913632"/>
            <a:ext cx="5440680" cy="457200"/>
          </a:xfrm>
          <a:prstGeom prst="roundRect">
            <a:avLst>
              <a:gd name="adj" fmla="val 14000"/>
            </a:avLst>
          </a:prstGeom>
          <a:solidFill>
            <a:srgbClr val="1E2761"/>
          </a:solidFill>
          <a:ln/>
        </p:spPr>
      </p:sp>
      <p:sp>
        <p:nvSpPr>
          <p:cNvPr id="20" name="Shape 14"/>
          <p:cNvSpPr/>
          <p:nvPr/>
        </p:nvSpPr>
        <p:spPr>
          <a:xfrm>
            <a:off x="502920" y="4142232"/>
            <a:ext cx="5440680" cy="228600"/>
          </a:xfrm>
          <a:prstGeom prst="rect">
            <a:avLst/>
          </a:prstGeom>
          <a:solidFill>
            <a:srgbClr val="1E2761"/>
          </a:solidFill>
          <a:ln/>
        </p:spPr>
      </p:sp>
      <p:pic>
        <p:nvPicPr>
          <p:cNvPr id="21" name="Image 4" descr="icons/speed_white.png">    </p:cNvPr>
          <p:cNvPicPr>
            <a:picLocks noChangeAspect="1"/>
          </p:cNvPicPr>
          <p:nvPr/>
        </p:nvPicPr>
        <p:blipFill>
          <a:blip r:embed="rId5"/>
          <a:stretch>
            <a:fillRect/>
          </a:stretch>
        </p:blipFill>
        <p:spPr>
          <a:xfrm>
            <a:off x="630936" y="4005072"/>
            <a:ext cx="274320" cy="274320"/>
          </a:xfrm>
          <a:prstGeom prst="rect">
            <a:avLst/>
          </a:prstGeom>
        </p:spPr>
      </p:pic>
      <p:sp>
        <p:nvSpPr>
          <p:cNvPr id="22" name="Text 15"/>
          <p:cNvSpPr/>
          <p:nvPr/>
        </p:nvSpPr>
        <p:spPr>
          <a:xfrm>
            <a:off x="1005840" y="3913632"/>
            <a:ext cx="480060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Operational Dashboard</a:t>
            </a:r>
            <a:endParaRPr lang="en-US" sz="1350" dirty="0"/>
          </a:p>
        </p:txBody>
      </p:sp>
      <p:pic>
        <p:nvPicPr>
          <p:cNvPr id="23" name="Image 5" descr="assets/operations_dashboard.png">    </p:cNvPr>
          <p:cNvPicPr>
            <a:picLocks noChangeAspect="1"/>
          </p:cNvPicPr>
          <p:nvPr/>
        </p:nvPicPr>
        <p:blipFill>
          <a:blip r:embed="rId6"/>
          <a:srcRect l="0" r="0" t="0" b="0"/>
          <a:stretch/>
        </p:blipFill>
        <p:spPr>
          <a:xfrm>
            <a:off x="612648" y="4480560"/>
            <a:ext cx="5221224" cy="1600200"/>
          </a:xfrm>
          <a:prstGeom prst="rect">
            <a:avLst/>
          </a:prstGeom>
        </p:spPr>
      </p:pic>
      <p:sp>
        <p:nvSpPr>
          <p:cNvPr id="24" name="Text 16"/>
          <p:cNvSpPr/>
          <p:nvPr/>
        </p:nvSpPr>
        <p:spPr>
          <a:xfrm>
            <a:off x="630936" y="6099048"/>
            <a:ext cx="5184648" cy="384048"/>
          </a:xfrm>
          <a:prstGeom prst="rect">
            <a:avLst/>
          </a:prstGeom>
          <a:noFill/>
          <a:ln/>
        </p:spPr>
        <p:txBody>
          <a:bodyPr wrap="square" rtlCol="0" anchor="t"/>
          <a:lstStyle/>
          <a:p>
            <a:pPr indent="0" marL="0">
              <a:buNone/>
            </a:pPr>
            <a:r>
              <a:rPr lang="en-US" sz="950" i="1" dirty="0">
                <a:solidFill>
                  <a:srgbClr val="5B6785"/>
                </a:solidFill>
                <a:latin typeface="Calibri" pitchFamily="34" charset="0"/>
                <a:ea typeface="Calibri" pitchFamily="34" charset="-122"/>
                <a:cs typeface="Calibri" pitchFamily="34" charset="-120"/>
              </a:rPr>
              <a:t>Occupancy, booking status, peak show timings, weekend vs weekday.</a:t>
            </a:r>
            <a:endParaRPr lang="en-US" sz="950" dirty="0"/>
          </a:p>
        </p:txBody>
      </p:sp>
      <p:sp>
        <p:nvSpPr>
          <p:cNvPr id="25" name="Shape 17"/>
          <p:cNvSpPr/>
          <p:nvPr/>
        </p:nvSpPr>
        <p:spPr>
          <a:xfrm>
            <a:off x="6263640" y="3913632"/>
            <a:ext cx="5440680" cy="2468880"/>
          </a:xfrm>
          <a:prstGeom prst="roundRect">
            <a:avLst>
              <a:gd name="adj" fmla="val 2593"/>
            </a:avLst>
          </a:prstGeom>
          <a:solidFill>
            <a:srgbClr val="F4F7FD"/>
          </a:solidFill>
          <a:ln w="12700">
            <a:solidFill>
              <a:srgbClr val="DCE3F5"/>
            </a:solidFill>
            <a:prstDash val="solid"/>
          </a:ln>
          <a:effectLst>
            <a:outerShdw sx="100000" sy="100000" kx="0" ky="0" algn="bl" rotWithShape="0" blurRad="76200" dist="25400" dir="5400000">
              <a:srgbClr val="9AA6C7">
                <a:alpha val="30000"/>
              </a:srgbClr>
            </a:outerShdw>
          </a:effectLst>
        </p:spPr>
      </p:sp>
      <p:sp>
        <p:nvSpPr>
          <p:cNvPr id="26" name="Shape 18"/>
          <p:cNvSpPr/>
          <p:nvPr/>
        </p:nvSpPr>
        <p:spPr>
          <a:xfrm>
            <a:off x="6263640" y="3913632"/>
            <a:ext cx="5440680" cy="457200"/>
          </a:xfrm>
          <a:prstGeom prst="roundRect">
            <a:avLst>
              <a:gd name="adj" fmla="val 14000"/>
            </a:avLst>
          </a:prstGeom>
          <a:solidFill>
            <a:srgbClr val="1E2761"/>
          </a:solidFill>
          <a:ln/>
        </p:spPr>
      </p:sp>
      <p:sp>
        <p:nvSpPr>
          <p:cNvPr id="27" name="Shape 19"/>
          <p:cNvSpPr/>
          <p:nvPr/>
        </p:nvSpPr>
        <p:spPr>
          <a:xfrm>
            <a:off x="6263640" y="4142232"/>
            <a:ext cx="5440680" cy="228600"/>
          </a:xfrm>
          <a:prstGeom prst="rect">
            <a:avLst/>
          </a:prstGeom>
          <a:solidFill>
            <a:srgbClr val="1E2761"/>
          </a:solidFill>
          <a:ln/>
        </p:spPr>
      </p:sp>
      <p:pic>
        <p:nvPicPr>
          <p:cNvPr id="28" name="Image 6" descr="icons/offer_white.png">    </p:cNvPr>
          <p:cNvPicPr>
            <a:picLocks noChangeAspect="1"/>
          </p:cNvPicPr>
          <p:nvPr/>
        </p:nvPicPr>
        <p:blipFill>
          <a:blip r:embed="rId7"/>
          <a:stretch>
            <a:fillRect/>
          </a:stretch>
        </p:blipFill>
        <p:spPr>
          <a:xfrm>
            <a:off x="6391656" y="4005072"/>
            <a:ext cx="274320" cy="274320"/>
          </a:xfrm>
          <a:prstGeom prst="rect">
            <a:avLst/>
          </a:prstGeom>
        </p:spPr>
      </p:pic>
      <p:sp>
        <p:nvSpPr>
          <p:cNvPr id="29" name="Text 20"/>
          <p:cNvSpPr/>
          <p:nvPr/>
        </p:nvSpPr>
        <p:spPr>
          <a:xfrm>
            <a:off x="6766560" y="3913632"/>
            <a:ext cx="480060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Customer &amp; Promotion</a:t>
            </a:r>
            <a:endParaRPr lang="en-US" sz="1350" dirty="0"/>
          </a:p>
        </p:txBody>
      </p:sp>
      <p:pic>
        <p:nvPicPr>
          <p:cNvPr id="30" name="Image 7" descr="assets/customer_promotion_dashboard.png">    </p:cNvPr>
          <p:cNvPicPr>
            <a:picLocks noChangeAspect="1"/>
          </p:cNvPicPr>
          <p:nvPr/>
        </p:nvPicPr>
        <p:blipFill>
          <a:blip r:embed="rId8"/>
          <a:srcRect l="0" r="0" t="0" b="0"/>
          <a:stretch/>
        </p:blipFill>
        <p:spPr>
          <a:xfrm>
            <a:off x="6373368" y="4480560"/>
            <a:ext cx="5221224" cy="1600200"/>
          </a:xfrm>
          <a:prstGeom prst="rect">
            <a:avLst/>
          </a:prstGeom>
        </p:spPr>
      </p:pic>
      <p:sp>
        <p:nvSpPr>
          <p:cNvPr id="31" name="Text 21"/>
          <p:cNvSpPr/>
          <p:nvPr/>
        </p:nvSpPr>
        <p:spPr>
          <a:xfrm>
            <a:off x="6391656" y="6099048"/>
            <a:ext cx="5184648" cy="384048"/>
          </a:xfrm>
          <a:prstGeom prst="rect">
            <a:avLst/>
          </a:prstGeom>
          <a:noFill/>
          <a:ln/>
        </p:spPr>
        <p:txBody>
          <a:bodyPr wrap="square" rtlCol="0" anchor="t"/>
          <a:lstStyle/>
          <a:p>
            <a:pPr indent="0" marL="0">
              <a:buNone/>
            </a:pPr>
            <a:r>
              <a:rPr lang="en-US" sz="950" i="1" dirty="0">
                <a:solidFill>
                  <a:srgbClr val="5B6785"/>
                </a:solidFill>
                <a:latin typeface="Calibri" pitchFamily="34" charset="0"/>
                <a:ea typeface="Calibri" pitchFamily="34" charset="-122"/>
                <a:cs typeface="Calibri" pitchFamily="34" charset="-120"/>
              </a:rPr>
              <a:t>Promotions, booking channels, payments, membership, food revenue.</a:t>
            </a:r>
            <a:endParaRPr lang="en-US" sz="950" dirty="0"/>
          </a:p>
        </p:txBody>
      </p:sp>
      <p:sp>
        <p:nvSpPr>
          <p:cNvPr id="32" name="Text 22"/>
          <p:cNvSpPr/>
          <p:nvPr/>
        </p:nvSpPr>
        <p:spPr>
          <a:xfrm>
            <a:off x="457200" y="6492240"/>
            <a:ext cx="73152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CineMax Multiplex Pvt. Ltd.  |  Movie Theatre Revenue &amp; Operations Analytics</a:t>
            </a:r>
            <a:endParaRPr lang="en-US" sz="900" dirty="0"/>
          </a:p>
        </p:txBody>
      </p:sp>
      <p:sp>
        <p:nvSpPr>
          <p:cNvPr id="33" name="Text 23"/>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Key Business Insights</a:t>
            </a:r>
            <a:endParaRPr lang="en-US" sz="2800" dirty="0"/>
          </a:p>
        </p:txBody>
      </p:sp>
      <p:sp>
        <p:nvSpPr>
          <p:cNvPr id="3" name="Shape 1"/>
          <p:cNvSpPr/>
          <p:nvPr/>
        </p:nvSpPr>
        <p:spPr>
          <a:xfrm>
            <a:off x="548640" y="1097280"/>
            <a:ext cx="3566160" cy="1691640"/>
          </a:xfrm>
          <a:prstGeom prst="roundRect">
            <a:avLst>
              <a:gd name="adj" fmla="val 4324"/>
            </a:avLst>
          </a:prstGeom>
          <a:solidFill>
            <a:srgbClr val="F4F7FD"/>
          </a:solidFill>
          <a:ln/>
          <a:effectLst>
            <a:outerShdw sx="100000" sy="100000" kx="0" ky="0" algn="bl" rotWithShape="0" blurRad="76200" dist="25400" dir="5400000">
              <a:srgbClr val="9AA6C7">
                <a:alpha val="30000"/>
              </a:srgbClr>
            </a:outerShdw>
          </a:effectLst>
        </p:spPr>
      </p:sp>
      <p:sp>
        <p:nvSpPr>
          <p:cNvPr id="4" name="Shape 2"/>
          <p:cNvSpPr/>
          <p:nvPr/>
        </p:nvSpPr>
        <p:spPr>
          <a:xfrm>
            <a:off x="749808" y="1298448"/>
            <a:ext cx="566928" cy="566928"/>
          </a:xfrm>
          <a:prstGeom prst="ellipse">
            <a:avLst/>
          </a:prstGeom>
          <a:solidFill>
            <a:srgbClr val="1E2761"/>
          </a:solidFill>
          <a:ln/>
        </p:spPr>
      </p:sp>
      <p:pic>
        <p:nvPicPr>
          <p:cNvPr id="5" name="Image 0" descr="icons/movie_white.png">    </p:cNvPr>
          <p:cNvPicPr>
            <a:picLocks noChangeAspect="1"/>
          </p:cNvPicPr>
          <p:nvPr/>
        </p:nvPicPr>
        <p:blipFill>
          <a:blip r:embed="rId1"/>
          <a:stretch>
            <a:fillRect/>
          </a:stretch>
        </p:blipFill>
        <p:spPr>
          <a:xfrm>
            <a:off x="897209" y="1445849"/>
            <a:ext cx="272125" cy="272125"/>
          </a:xfrm>
          <a:prstGeom prst="rect">
            <a:avLst/>
          </a:prstGeom>
        </p:spPr>
      </p:pic>
      <p:sp>
        <p:nvSpPr>
          <p:cNvPr id="6" name="Text 3"/>
          <p:cNvSpPr/>
          <p:nvPr/>
        </p:nvSpPr>
        <p:spPr>
          <a:xfrm>
            <a:off x="1444752" y="1243584"/>
            <a:ext cx="2514600" cy="365760"/>
          </a:xfrm>
          <a:prstGeom prst="rect">
            <a:avLst/>
          </a:prstGeom>
          <a:noFill/>
          <a:ln/>
        </p:spPr>
        <p:txBody>
          <a:bodyPr wrap="square"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Top Revenue Movies</a:t>
            </a:r>
            <a:endParaRPr lang="en-US" sz="1250" dirty="0"/>
          </a:p>
        </p:txBody>
      </p:sp>
      <p:sp>
        <p:nvSpPr>
          <p:cNvPr id="7" name="Text 4"/>
          <p:cNvSpPr/>
          <p:nvPr/>
        </p:nvSpPr>
        <p:spPr>
          <a:xfrm>
            <a:off x="749808" y="1993392"/>
            <a:ext cx="3163824" cy="713232"/>
          </a:xfrm>
          <a:prstGeom prst="rect">
            <a:avLst/>
          </a:prstGeom>
          <a:noFill/>
          <a:ln/>
        </p:spPr>
        <p:txBody>
          <a:bodyPr wrap="square" rtlCol="0" anchor="t"/>
          <a:lstStyle/>
          <a:p>
            <a:pPr indent="0" marL="0">
              <a:lnSpc>
                <a:spcPct val="110000"/>
              </a:lnSpc>
              <a:buNone/>
            </a:pPr>
            <a:r>
              <a:rPr lang="en-US" sz="1050" dirty="0">
                <a:solidFill>
                  <a:srgbClr val="5B6785"/>
                </a:solidFill>
                <a:latin typeface="Calibri" pitchFamily="34" charset="0"/>
                <a:ea typeface="Calibri" pitchFamily="34" charset="-122"/>
                <a:cs typeface="Calibri" pitchFamily="34" charset="-120"/>
              </a:rPr>
              <a:t>Clear visibility into the highest revenue-generating movies across all theatres.</a:t>
            </a:r>
            <a:endParaRPr lang="en-US" sz="1050" dirty="0"/>
          </a:p>
        </p:txBody>
      </p:sp>
      <p:sp>
        <p:nvSpPr>
          <p:cNvPr id="8" name="Shape 5"/>
          <p:cNvSpPr/>
          <p:nvPr/>
        </p:nvSpPr>
        <p:spPr>
          <a:xfrm>
            <a:off x="4343400" y="1097280"/>
            <a:ext cx="3566160" cy="1691640"/>
          </a:xfrm>
          <a:prstGeom prst="roundRect">
            <a:avLst>
              <a:gd name="adj" fmla="val 4324"/>
            </a:avLst>
          </a:prstGeom>
          <a:solidFill>
            <a:srgbClr val="F4F7FD"/>
          </a:solidFill>
          <a:ln/>
          <a:effectLst>
            <a:outerShdw sx="100000" sy="100000" kx="0" ky="0" algn="bl" rotWithShape="0" blurRad="76200" dist="25400" dir="5400000">
              <a:srgbClr val="9AA6C7">
                <a:alpha val="30000"/>
              </a:srgbClr>
            </a:outerShdw>
          </a:effectLst>
        </p:spPr>
      </p:sp>
      <p:sp>
        <p:nvSpPr>
          <p:cNvPr id="9" name="Shape 6"/>
          <p:cNvSpPr/>
          <p:nvPr/>
        </p:nvSpPr>
        <p:spPr>
          <a:xfrm>
            <a:off x="4544568" y="1298448"/>
            <a:ext cx="566928" cy="566928"/>
          </a:xfrm>
          <a:prstGeom prst="ellipse">
            <a:avLst/>
          </a:prstGeom>
          <a:solidFill>
            <a:srgbClr val="1E2761"/>
          </a:solidFill>
          <a:ln/>
        </p:spPr>
      </p:sp>
      <p:pic>
        <p:nvPicPr>
          <p:cNvPr id="10" name="Image 1" descr="icons/theatre_white.png">    </p:cNvPr>
          <p:cNvPicPr>
            <a:picLocks noChangeAspect="1"/>
          </p:cNvPicPr>
          <p:nvPr/>
        </p:nvPicPr>
        <p:blipFill>
          <a:blip r:embed="rId2"/>
          <a:stretch>
            <a:fillRect/>
          </a:stretch>
        </p:blipFill>
        <p:spPr>
          <a:xfrm>
            <a:off x="4691969" y="1445849"/>
            <a:ext cx="272125" cy="272125"/>
          </a:xfrm>
          <a:prstGeom prst="rect">
            <a:avLst/>
          </a:prstGeom>
        </p:spPr>
      </p:pic>
      <p:sp>
        <p:nvSpPr>
          <p:cNvPr id="11" name="Text 7"/>
          <p:cNvSpPr/>
          <p:nvPr/>
        </p:nvSpPr>
        <p:spPr>
          <a:xfrm>
            <a:off x="5239512" y="1243584"/>
            <a:ext cx="2514600" cy="365760"/>
          </a:xfrm>
          <a:prstGeom prst="rect">
            <a:avLst/>
          </a:prstGeom>
          <a:noFill/>
          <a:ln/>
        </p:spPr>
        <p:txBody>
          <a:bodyPr wrap="square"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Best-Performing Theatres</a:t>
            </a:r>
            <a:endParaRPr lang="en-US" sz="1250" dirty="0"/>
          </a:p>
        </p:txBody>
      </p:sp>
      <p:sp>
        <p:nvSpPr>
          <p:cNvPr id="12" name="Text 8"/>
          <p:cNvSpPr/>
          <p:nvPr/>
        </p:nvSpPr>
        <p:spPr>
          <a:xfrm>
            <a:off x="4544568" y="1993392"/>
            <a:ext cx="3163824" cy="713232"/>
          </a:xfrm>
          <a:prstGeom prst="rect">
            <a:avLst/>
          </a:prstGeom>
          <a:noFill/>
          <a:ln/>
        </p:spPr>
        <p:txBody>
          <a:bodyPr wrap="square" rtlCol="0" anchor="t"/>
          <a:lstStyle/>
          <a:p>
            <a:pPr indent="0" marL="0">
              <a:lnSpc>
                <a:spcPct val="110000"/>
              </a:lnSpc>
              <a:buNone/>
            </a:pPr>
            <a:r>
              <a:rPr lang="en-US" sz="1050" dirty="0">
                <a:solidFill>
                  <a:srgbClr val="5B6785"/>
                </a:solidFill>
                <a:latin typeface="Calibri" pitchFamily="34" charset="0"/>
                <a:ea typeface="Calibri" pitchFamily="34" charset="-122"/>
                <a:cs typeface="Calibri" pitchFamily="34" charset="-120"/>
              </a:rPr>
              <a:t>CineMax Anna Nagar and Madurai lead in total revenue contribution.</a:t>
            </a:r>
            <a:endParaRPr lang="en-US" sz="1050" dirty="0"/>
          </a:p>
        </p:txBody>
      </p:sp>
      <p:sp>
        <p:nvSpPr>
          <p:cNvPr id="13" name="Shape 9"/>
          <p:cNvSpPr/>
          <p:nvPr/>
        </p:nvSpPr>
        <p:spPr>
          <a:xfrm>
            <a:off x="8138160" y="1097280"/>
            <a:ext cx="3566160" cy="1691640"/>
          </a:xfrm>
          <a:prstGeom prst="roundRect">
            <a:avLst>
              <a:gd name="adj" fmla="val 4324"/>
            </a:avLst>
          </a:prstGeom>
          <a:solidFill>
            <a:srgbClr val="F4F7FD"/>
          </a:solidFill>
          <a:ln/>
          <a:effectLst>
            <a:outerShdw sx="100000" sy="100000" kx="0" ky="0" algn="bl" rotWithShape="0" blurRad="76200" dist="25400" dir="5400000">
              <a:srgbClr val="9AA6C7">
                <a:alpha val="30000"/>
              </a:srgbClr>
            </a:outerShdw>
          </a:effectLst>
        </p:spPr>
      </p:sp>
      <p:sp>
        <p:nvSpPr>
          <p:cNvPr id="14" name="Shape 10"/>
          <p:cNvSpPr/>
          <p:nvPr/>
        </p:nvSpPr>
        <p:spPr>
          <a:xfrm>
            <a:off x="8339328" y="1298448"/>
            <a:ext cx="566928" cy="566928"/>
          </a:xfrm>
          <a:prstGeom prst="ellipse">
            <a:avLst/>
          </a:prstGeom>
          <a:solidFill>
            <a:srgbClr val="1E2761"/>
          </a:solidFill>
          <a:ln/>
        </p:spPr>
      </p:sp>
      <p:pic>
        <p:nvPicPr>
          <p:cNvPr id="15" name="Image 2" descr="icons/timer_white.png">    </p:cNvPr>
          <p:cNvPicPr>
            <a:picLocks noChangeAspect="1"/>
          </p:cNvPicPr>
          <p:nvPr/>
        </p:nvPicPr>
        <p:blipFill>
          <a:blip r:embed="rId3"/>
          <a:stretch>
            <a:fillRect/>
          </a:stretch>
        </p:blipFill>
        <p:spPr>
          <a:xfrm>
            <a:off x="8486729" y="1445849"/>
            <a:ext cx="272125" cy="272125"/>
          </a:xfrm>
          <a:prstGeom prst="rect">
            <a:avLst/>
          </a:prstGeom>
        </p:spPr>
      </p:pic>
      <p:sp>
        <p:nvSpPr>
          <p:cNvPr id="16" name="Text 11"/>
          <p:cNvSpPr/>
          <p:nvPr/>
        </p:nvSpPr>
        <p:spPr>
          <a:xfrm>
            <a:off x="9034272" y="1243584"/>
            <a:ext cx="2514600" cy="365760"/>
          </a:xfrm>
          <a:prstGeom prst="rect">
            <a:avLst/>
          </a:prstGeom>
          <a:noFill/>
          <a:ln/>
        </p:spPr>
        <p:txBody>
          <a:bodyPr wrap="square"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Peak Booking Timings</a:t>
            </a:r>
            <a:endParaRPr lang="en-US" sz="1250" dirty="0"/>
          </a:p>
        </p:txBody>
      </p:sp>
      <p:sp>
        <p:nvSpPr>
          <p:cNvPr id="17" name="Text 12"/>
          <p:cNvSpPr/>
          <p:nvPr/>
        </p:nvSpPr>
        <p:spPr>
          <a:xfrm>
            <a:off x="8339328" y="1993392"/>
            <a:ext cx="3163824" cy="713232"/>
          </a:xfrm>
          <a:prstGeom prst="rect">
            <a:avLst/>
          </a:prstGeom>
          <a:noFill/>
          <a:ln/>
        </p:spPr>
        <p:txBody>
          <a:bodyPr wrap="square" rtlCol="0" anchor="t"/>
          <a:lstStyle/>
          <a:p>
            <a:pPr indent="0" marL="0">
              <a:lnSpc>
                <a:spcPct val="110000"/>
              </a:lnSpc>
              <a:buNone/>
            </a:pPr>
            <a:r>
              <a:rPr lang="en-US" sz="1050" dirty="0">
                <a:solidFill>
                  <a:srgbClr val="5B6785"/>
                </a:solidFill>
                <a:latin typeface="Calibri" pitchFamily="34" charset="0"/>
                <a:ea typeface="Calibri" pitchFamily="34" charset="-122"/>
                <a:cs typeface="Calibri" pitchFamily="34" charset="-120"/>
              </a:rPr>
              <a:t>Evening 6 PM show time drives the highest ticket volumes.</a:t>
            </a:r>
            <a:endParaRPr lang="en-US" sz="1050" dirty="0"/>
          </a:p>
        </p:txBody>
      </p:sp>
      <p:sp>
        <p:nvSpPr>
          <p:cNvPr id="18" name="Shape 13"/>
          <p:cNvSpPr/>
          <p:nvPr/>
        </p:nvSpPr>
        <p:spPr>
          <a:xfrm>
            <a:off x="548640" y="3017520"/>
            <a:ext cx="3566160" cy="1691640"/>
          </a:xfrm>
          <a:prstGeom prst="roundRect">
            <a:avLst>
              <a:gd name="adj" fmla="val 4324"/>
            </a:avLst>
          </a:prstGeom>
          <a:solidFill>
            <a:srgbClr val="F4F7FD"/>
          </a:solidFill>
          <a:ln/>
          <a:effectLst>
            <a:outerShdw sx="100000" sy="100000" kx="0" ky="0" algn="bl" rotWithShape="0" blurRad="76200" dist="25400" dir="5400000">
              <a:srgbClr val="9AA6C7">
                <a:alpha val="30000"/>
              </a:srgbClr>
            </a:outerShdw>
          </a:effectLst>
        </p:spPr>
      </p:sp>
      <p:sp>
        <p:nvSpPr>
          <p:cNvPr id="19" name="Shape 14"/>
          <p:cNvSpPr/>
          <p:nvPr/>
        </p:nvSpPr>
        <p:spPr>
          <a:xfrm>
            <a:off x="749808" y="3218688"/>
            <a:ext cx="566928" cy="566928"/>
          </a:xfrm>
          <a:prstGeom prst="ellipse">
            <a:avLst/>
          </a:prstGeom>
          <a:solidFill>
            <a:srgbClr val="1E2761"/>
          </a:solidFill>
          <a:ln/>
        </p:spPr>
      </p:sp>
      <p:pic>
        <p:nvPicPr>
          <p:cNvPr id="20" name="Image 3" descr="icons/offer_white.png">    </p:cNvPr>
          <p:cNvPicPr>
            <a:picLocks noChangeAspect="1"/>
          </p:cNvPicPr>
          <p:nvPr/>
        </p:nvPicPr>
        <p:blipFill>
          <a:blip r:embed="rId4"/>
          <a:stretch>
            <a:fillRect/>
          </a:stretch>
        </p:blipFill>
        <p:spPr>
          <a:xfrm>
            <a:off x="897209" y="3366089"/>
            <a:ext cx="272125" cy="272125"/>
          </a:xfrm>
          <a:prstGeom prst="rect">
            <a:avLst/>
          </a:prstGeom>
        </p:spPr>
      </p:pic>
      <p:sp>
        <p:nvSpPr>
          <p:cNvPr id="21" name="Text 15"/>
          <p:cNvSpPr/>
          <p:nvPr/>
        </p:nvSpPr>
        <p:spPr>
          <a:xfrm>
            <a:off x="1444752" y="3163824"/>
            <a:ext cx="2514600" cy="365760"/>
          </a:xfrm>
          <a:prstGeom prst="rect">
            <a:avLst/>
          </a:prstGeom>
          <a:noFill/>
          <a:ln/>
        </p:spPr>
        <p:txBody>
          <a:bodyPr wrap="square"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Successful Promotions</a:t>
            </a:r>
            <a:endParaRPr lang="en-US" sz="1250" dirty="0"/>
          </a:p>
        </p:txBody>
      </p:sp>
      <p:sp>
        <p:nvSpPr>
          <p:cNvPr id="22" name="Text 16"/>
          <p:cNvSpPr/>
          <p:nvPr/>
        </p:nvSpPr>
        <p:spPr>
          <a:xfrm>
            <a:off x="749808" y="3913632"/>
            <a:ext cx="3163824" cy="713232"/>
          </a:xfrm>
          <a:prstGeom prst="rect">
            <a:avLst/>
          </a:prstGeom>
          <a:noFill/>
          <a:ln/>
        </p:spPr>
        <p:txBody>
          <a:bodyPr wrap="square" rtlCol="0" anchor="t"/>
          <a:lstStyle/>
          <a:p>
            <a:pPr indent="0" marL="0">
              <a:lnSpc>
                <a:spcPct val="110000"/>
              </a:lnSpc>
              <a:buNone/>
            </a:pPr>
            <a:r>
              <a:rPr lang="en-US" sz="1050" dirty="0">
                <a:solidFill>
                  <a:srgbClr val="5B6785"/>
                </a:solidFill>
                <a:latin typeface="Calibri" pitchFamily="34" charset="0"/>
                <a:ea typeface="Calibri" pitchFamily="34" charset="-122"/>
                <a:cs typeface="Calibri" pitchFamily="34" charset="-120"/>
              </a:rPr>
              <a:t>Festival and Student Friday offers generate the strongest booking response.</a:t>
            </a:r>
            <a:endParaRPr lang="en-US" sz="1050" dirty="0"/>
          </a:p>
        </p:txBody>
      </p:sp>
      <p:sp>
        <p:nvSpPr>
          <p:cNvPr id="23" name="Shape 17"/>
          <p:cNvSpPr/>
          <p:nvPr/>
        </p:nvSpPr>
        <p:spPr>
          <a:xfrm>
            <a:off x="4343400" y="3017520"/>
            <a:ext cx="3566160" cy="1691640"/>
          </a:xfrm>
          <a:prstGeom prst="roundRect">
            <a:avLst>
              <a:gd name="adj" fmla="val 4324"/>
            </a:avLst>
          </a:prstGeom>
          <a:solidFill>
            <a:srgbClr val="F4F7FD"/>
          </a:solidFill>
          <a:ln/>
          <a:effectLst>
            <a:outerShdw sx="100000" sy="100000" kx="0" ky="0" algn="bl" rotWithShape="0" blurRad="76200" dist="25400" dir="5400000">
              <a:srgbClr val="9AA6C7">
                <a:alpha val="30000"/>
              </a:srgbClr>
            </a:outerShdw>
          </a:effectLst>
        </p:spPr>
      </p:sp>
      <p:sp>
        <p:nvSpPr>
          <p:cNvPr id="24" name="Shape 18"/>
          <p:cNvSpPr/>
          <p:nvPr/>
        </p:nvSpPr>
        <p:spPr>
          <a:xfrm>
            <a:off x="4544568" y="3218688"/>
            <a:ext cx="566928" cy="566928"/>
          </a:xfrm>
          <a:prstGeom prst="ellipse">
            <a:avLst/>
          </a:prstGeom>
          <a:solidFill>
            <a:srgbClr val="1E2761"/>
          </a:solidFill>
          <a:ln/>
        </p:spPr>
      </p:sp>
      <p:pic>
        <p:nvPicPr>
          <p:cNvPr id="25" name="Image 4" descr="icons/people_white.png">    </p:cNvPr>
          <p:cNvPicPr>
            <a:picLocks noChangeAspect="1"/>
          </p:cNvPicPr>
          <p:nvPr/>
        </p:nvPicPr>
        <p:blipFill>
          <a:blip r:embed="rId5"/>
          <a:stretch>
            <a:fillRect/>
          </a:stretch>
        </p:blipFill>
        <p:spPr>
          <a:xfrm>
            <a:off x="4691969" y="3366089"/>
            <a:ext cx="272125" cy="272125"/>
          </a:xfrm>
          <a:prstGeom prst="rect">
            <a:avLst/>
          </a:prstGeom>
        </p:spPr>
      </p:pic>
      <p:sp>
        <p:nvSpPr>
          <p:cNvPr id="26" name="Text 19"/>
          <p:cNvSpPr/>
          <p:nvPr/>
        </p:nvSpPr>
        <p:spPr>
          <a:xfrm>
            <a:off x="5239512" y="3163824"/>
            <a:ext cx="2514600" cy="365760"/>
          </a:xfrm>
          <a:prstGeom prst="rect">
            <a:avLst/>
          </a:prstGeom>
          <a:noFill/>
          <a:ln/>
        </p:spPr>
        <p:txBody>
          <a:bodyPr wrap="square"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Booking Preferences</a:t>
            </a:r>
            <a:endParaRPr lang="en-US" sz="1250" dirty="0"/>
          </a:p>
        </p:txBody>
      </p:sp>
      <p:sp>
        <p:nvSpPr>
          <p:cNvPr id="27" name="Text 20"/>
          <p:cNvSpPr/>
          <p:nvPr/>
        </p:nvSpPr>
        <p:spPr>
          <a:xfrm>
            <a:off x="4544568" y="3913632"/>
            <a:ext cx="3163824" cy="713232"/>
          </a:xfrm>
          <a:prstGeom prst="rect">
            <a:avLst/>
          </a:prstGeom>
          <a:noFill/>
          <a:ln/>
        </p:spPr>
        <p:txBody>
          <a:bodyPr wrap="square" rtlCol="0" anchor="t"/>
          <a:lstStyle/>
          <a:p>
            <a:pPr indent="0" marL="0">
              <a:lnSpc>
                <a:spcPct val="110000"/>
              </a:lnSpc>
              <a:buNone/>
            </a:pPr>
            <a:r>
              <a:rPr lang="en-US" sz="1050" dirty="0">
                <a:solidFill>
                  <a:srgbClr val="5B6785"/>
                </a:solidFill>
                <a:latin typeface="Calibri" pitchFamily="34" charset="0"/>
                <a:ea typeface="Calibri" pitchFamily="34" charset="-122"/>
                <a:cs typeface="Calibri" pitchFamily="34" charset="-120"/>
              </a:rPr>
              <a:t>Online booking channel accounts for over half of all customer bookings.</a:t>
            </a:r>
            <a:endParaRPr lang="en-US" sz="1050" dirty="0"/>
          </a:p>
        </p:txBody>
      </p:sp>
      <p:sp>
        <p:nvSpPr>
          <p:cNvPr id="28" name="Shape 21"/>
          <p:cNvSpPr/>
          <p:nvPr/>
        </p:nvSpPr>
        <p:spPr>
          <a:xfrm>
            <a:off x="8138160" y="3017520"/>
            <a:ext cx="3566160" cy="1691640"/>
          </a:xfrm>
          <a:prstGeom prst="roundRect">
            <a:avLst>
              <a:gd name="adj" fmla="val 4324"/>
            </a:avLst>
          </a:prstGeom>
          <a:solidFill>
            <a:srgbClr val="F4F7FD"/>
          </a:solidFill>
          <a:ln/>
          <a:effectLst>
            <a:outerShdw sx="100000" sy="100000" kx="0" ky="0" algn="bl" rotWithShape="0" blurRad="76200" dist="25400" dir="5400000">
              <a:srgbClr val="9AA6C7">
                <a:alpha val="30000"/>
              </a:srgbClr>
            </a:outerShdw>
          </a:effectLst>
        </p:spPr>
      </p:sp>
      <p:sp>
        <p:nvSpPr>
          <p:cNvPr id="29" name="Shape 22"/>
          <p:cNvSpPr/>
          <p:nvPr/>
        </p:nvSpPr>
        <p:spPr>
          <a:xfrm>
            <a:off x="8339328" y="3218688"/>
            <a:ext cx="566928" cy="566928"/>
          </a:xfrm>
          <a:prstGeom prst="ellipse">
            <a:avLst/>
          </a:prstGeom>
          <a:solidFill>
            <a:srgbClr val="1E2761"/>
          </a:solidFill>
          <a:ln/>
        </p:spPr>
      </p:sp>
      <p:pic>
        <p:nvPicPr>
          <p:cNvPr id="30" name="Image 5" descr="icons/food_white.png">    </p:cNvPr>
          <p:cNvPicPr>
            <a:picLocks noChangeAspect="1"/>
          </p:cNvPicPr>
          <p:nvPr/>
        </p:nvPicPr>
        <p:blipFill>
          <a:blip r:embed="rId6"/>
          <a:stretch>
            <a:fillRect/>
          </a:stretch>
        </p:blipFill>
        <p:spPr>
          <a:xfrm>
            <a:off x="8486729" y="3366089"/>
            <a:ext cx="272125" cy="272125"/>
          </a:xfrm>
          <a:prstGeom prst="rect">
            <a:avLst/>
          </a:prstGeom>
        </p:spPr>
      </p:pic>
      <p:sp>
        <p:nvSpPr>
          <p:cNvPr id="31" name="Text 23"/>
          <p:cNvSpPr/>
          <p:nvPr/>
        </p:nvSpPr>
        <p:spPr>
          <a:xfrm>
            <a:off x="9034272" y="3163824"/>
            <a:ext cx="2514600" cy="365760"/>
          </a:xfrm>
          <a:prstGeom prst="rect">
            <a:avLst/>
          </a:prstGeom>
          <a:noFill/>
          <a:ln/>
        </p:spPr>
        <p:txBody>
          <a:bodyPr wrap="square"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Food Revenue Contribution</a:t>
            </a:r>
            <a:endParaRPr lang="en-US" sz="1250" dirty="0"/>
          </a:p>
        </p:txBody>
      </p:sp>
      <p:sp>
        <p:nvSpPr>
          <p:cNvPr id="32" name="Text 24"/>
          <p:cNvSpPr/>
          <p:nvPr/>
        </p:nvSpPr>
        <p:spPr>
          <a:xfrm>
            <a:off x="8339328" y="3913632"/>
            <a:ext cx="3163824" cy="713232"/>
          </a:xfrm>
          <a:prstGeom prst="rect">
            <a:avLst/>
          </a:prstGeom>
          <a:noFill/>
          <a:ln/>
        </p:spPr>
        <p:txBody>
          <a:bodyPr wrap="square" rtlCol="0" anchor="t"/>
          <a:lstStyle/>
          <a:p>
            <a:pPr indent="0" marL="0">
              <a:lnSpc>
                <a:spcPct val="110000"/>
              </a:lnSpc>
              <a:buNone/>
            </a:pPr>
            <a:r>
              <a:rPr lang="en-US" sz="1050" dirty="0">
                <a:solidFill>
                  <a:srgbClr val="5B6785"/>
                </a:solidFill>
                <a:latin typeface="Calibri" pitchFamily="34" charset="0"/>
                <a:ea typeface="Calibri" pitchFamily="34" charset="-122"/>
                <a:cs typeface="Calibri" pitchFamily="34" charset="-120"/>
              </a:rPr>
              <a:t>Food sales add a significant share to total theatre revenue.</a:t>
            </a:r>
            <a:endParaRPr lang="en-US" sz="1050" dirty="0"/>
          </a:p>
        </p:txBody>
      </p:sp>
      <p:sp>
        <p:nvSpPr>
          <p:cNvPr id="33" name="Shape 25"/>
          <p:cNvSpPr/>
          <p:nvPr/>
        </p:nvSpPr>
        <p:spPr>
          <a:xfrm>
            <a:off x="548640" y="5029200"/>
            <a:ext cx="11094415" cy="566928"/>
          </a:xfrm>
          <a:prstGeom prst="roundRect">
            <a:avLst>
              <a:gd name="adj" fmla="val 12903"/>
            </a:avLst>
          </a:prstGeom>
          <a:solidFill>
            <a:srgbClr val="1E2761"/>
          </a:solidFill>
          <a:ln/>
        </p:spPr>
      </p:sp>
      <p:sp>
        <p:nvSpPr>
          <p:cNvPr id="34" name="Text 26"/>
          <p:cNvSpPr/>
          <p:nvPr/>
        </p:nvSpPr>
        <p:spPr>
          <a:xfrm>
            <a:off x="731520" y="5029200"/>
            <a:ext cx="10728655" cy="566928"/>
          </a:xfrm>
          <a:prstGeom prst="rect">
            <a:avLst/>
          </a:prstGeom>
          <a:noFill/>
          <a:ln/>
        </p:spPr>
        <p:txBody>
          <a:bodyPr wrap="square" rtlCol="0" anchor="ctr"/>
          <a:lstStyle/>
          <a:p>
            <a:pPr algn="ctr" indent="0" marL="0">
              <a:buNone/>
            </a:pPr>
            <a:r>
              <a:rPr lang="en-US" sz="1400" b="1" i="1" dirty="0">
                <a:solidFill>
                  <a:srgbClr val="FFFFFF"/>
                </a:solidFill>
                <a:latin typeface="Calibri" pitchFamily="34" charset="0"/>
                <a:ea typeface="Calibri" pitchFamily="34" charset="-122"/>
                <a:cs typeface="Calibri" pitchFamily="34" charset="-120"/>
              </a:rPr>
              <a:t>“Interactive dashboards enable faster and better business decisions.”</a:t>
            </a:r>
            <a:endParaRPr lang="en-US" sz="1400" dirty="0"/>
          </a:p>
        </p:txBody>
      </p:sp>
      <p:sp>
        <p:nvSpPr>
          <p:cNvPr id="35" name="Text 27"/>
          <p:cNvSpPr/>
          <p:nvPr/>
        </p:nvSpPr>
        <p:spPr>
          <a:xfrm>
            <a:off x="457200" y="6492240"/>
            <a:ext cx="73152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CineMax Multiplex Pvt. Ltd.  |  Movie Theatre Revenue &amp; Operations Analytics</a:t>
            </a:r>
            <a:endParaRPr lang="en-US" sz="900" dirty="0"/>
          </a:p>
        </p:txBody>
      </p:sp>
      <p:sp>
        <p:nvSpPr>
          <p:cNvPr id="36" name="Text 28"/>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560320" y="-2560320"/>
            <a:ext cx="5486400" cy="5486400"/>
          </a:xfrm>
          <a:prstGeom prst="ellipse">
            <a:avLst/>
          </a:prstGeom>
          <a:solidFill>
            <a:srgbClr val="141B4D"/>
          </a:solidFill>
          <a:ln/>
        </p:spPr>
      </p:sp>
      <p:sp>
        <p:nvSpPr>
          <p:cNvPr id="3" name="Shape 1"/>
          <p:cNvSpPr/>
          <p:nvPr/>
        </p:nvSpPr>
        <p:spPr>
          <a:xfrm>
            <a:off x="9326880" y="3840480"/>
            <a:ext cx="5486400" cy="5486400"/>
          </a:xfrm>
          <a:prstGeom prst="ellipse">
            <a:avLst/>
          </a:prstGeom>
          <a:solidFill>
            <a:srgbClr val="141B4D"/>
          </a:solidFill>
          <a:ln/>
        </p:spPr>
      </p:sp>
      <p:sp>
        <p:nvSpPr>
          <p:cNvPr id="4" name="Text 2"/>
          <p:cNvSpPr/>
          <p:nvPr/>
        </p:nvSpPr>
        <p:spPr>
          <a:xfrm>
            <a:off x="731520" y="502920"/>
            <a:ext cx="10728655"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Text 3"/>
          <p:cNvSpPr/>
          <p:nvPr/>
        </p:nvSpPr>
        <p:spPr>
          <a:xfrm>
            <a:off x="731520" y="1143000"/>
            <a:ext cx="10728655" cy="365760"/>
          </a:xfrm>
          <a:prstGeom prst="rect">
            <a:avLst/>
          </a:prstGeom>
          <a:noFill/>
          <a:ln/>
        </p:spPr>
        <p:txBody>
          <a:bodyPr wrap="square"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Project Outcome</a:t>
            </a:r>
            <a:endParaRPr lang="en-US" sz="1400" dirty="0"/>
          </a:p>
        </p:txBody>
      </p:sp>
      <p:sp>
        <p:nvSpPr>
          <p:cNvPr id="6" name="Shape 4"/>
          <p:cNvSpPr/>
          <p:nvPr/>
        </p:nvSpPr>
        <p:spPr>
          <a:xfrm>
            <a:off x="2255368" y="1874520"/>
            <a:ext cx="457200" cy="457200"/>
          </a:xfrm>
          <a:prstGeom prst="ellipse">
            <a:avLst/>
          </a:prstGeom>
          <a:solidFill>
            <a:srgbClr val="1E8E5A"/>
          </a:solidFill>
          <a:ln/>
        </p:spPr>
      </p:sp>
      <p:pic>
        <p:nvPicPr>
          <p:cNvPr id="7" name="Image 0" descr="icons/check_white.png">    </p:cNvPr>
          <p:cNvPicPr>
            <a:picLocks noChangeAspect="1"/>
          </p:cNvPicPr>
          <p:nvPr/>
        </p:nvPicPr>
        <p:blipFill>
          <a:blip r:embed="rId1"/>
          <a:stretch>
            <a:fillRect/>
          </a:stretch>
        </p:blipFill>
        <p:spPr>
          <a:xfrm>
            <a:off x="2374240" y="1993392"/>
            <a:ext cx="219456" cy="219456"/>
          </a:xfrm>
          <a:prstGeom prst="rect">
            <a:avLst/>
          </a:prstGeom>
        </p:spPr>
      </p:pic>
      <p:sp>
        <p:nvSpPr>
          <p:cNvPr id="8" name="Text 5"/>
          <p:cNvSpPr/>
          <p:nvPr/>
        </p:nvSpPr>
        <p:spPr>
          <a:xfrm>
            <a:off x="2913736" y="1856232"/>
            <a:ext cx="685800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Centralized reporting across all theatres</a:t>
            </a:r>
            <a:endParaRPr lang="en-US" sz="1500" dirty="0"/>
          </a:p>
        </p:txBody>
      </p:sp>
      <p:sp>
        <p:nvSpPr>
          <p:cNvPr id="9" name="Shape 6"/>
          <p:cNvSpPr/>
          <p:nvPr/>
        </p:nvSpPr>
        <p:spPr>
          <a:xfrm>
            <a:off x="2255368" y="2496312"/>
            <a:ext cx="457200" cy="457200"/>
          </a:xfrm>
          <a:prstGeom prst="ellipse">
            <a:avLst/>
          </a:prstGeom>
          <a:solidFill>
            <a:srgbClr val="1E8E5A"/>
          </a:solidFill>
          <a:ln/>
        </p:spPr>
      </p:sp>
      <p:pic>
        <p:nvPicPr>
          <p:cNvPr id="10" name="Image 1" descr="icons/check_white.png">    </p:cNvPr>
          <p:cNvPicPr>
            <a:picLocks noChangeAspect="1"/>
          </p:cNvPicPr>
          <p:nvPr/>
        </p:nvPicPr>
        <p:blipFill>
          <a:blip r:embed="rId2"/>
          <a:stretch>
            <a:fillRect/>
          </a:stretch>
        </p:blipFill>
        <p:spPr>
          <a:xfrm>
            <a:off x="2374240" y="2615184"/>
            <a:ext cx="219456" cy="219456"/>
          </a:xfrm>
          <a:prstGeom prst="rect">
            <a:avLst/>
          </a:prstGeom>
        </p:spPr>
      </p:pic>
      <p:sp>
        <p:nvSpPr>
          <p:cNvPr id="11" name="Text 7"/>
          <p:cNvSpPr/>
          <p:nvPr/>
        </p:nvSpPr>
        <p:spPr>
          <a:xfrm>
            <a:off x="2913736" y="2478024"/>
            <a:ext cx="685800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Interactive, easy-to-use dashboards</a:t>
            </a:r>
            <a:endParaRPr lang="en-US" sz="1500" dirty="0"/>
          </a:p>
        </p:txBody>
      </p:sp>
      <p:sp>
        <p:nvSpPr>
          <p:cNvPr id="12" name="Shape 8"/>
          <p:cNvSpPr/>
          <p:nvPr/>
        </p:nvSpPr>
        <p:spPr>
          <a:xfrm>
            <a:off x="2255368" y="3118104"/>
            <a:ext cx="457200" cy="457200"/>
          </a:xfrm>
          <a:prstGeom prst="ellipse">
            <a:avLst/>
          </a:prstGeom>
          <a:solidFill>
            <a:srgbClr val="1E8E5A"/>
          </a:solidFill>
          <a:ln/>
        </p:spPr>
      </p:sp>
      <p:pic>
        <p:nvPicPr>
          <p:cNvPr id="13" name="Image 2" descr="icons/check_white.png">    </p:cNvPr>
          <p:cNvPicPr>
            <a:picLocks noChangeAspect="1"/>
          </p:cNvPicPr>
          <p:nvPr/>
        </p:nvPicPr>
        <p:blipFill>
          <a:blip r:embed="rId3"/>
          <a:stretch>
            <a:fillRect/>
          </a:stretch>
        </p:blipFill>
        <p:spPr>
          <a:xfrm>
            <a:off x="2374240" y="3236976"/>
            <a:ext cx="219456" cy="219456"/>
          </a:xfrm>
          <a:prstGeom prst="rect">
            <a:avLst/>
          </a:prstGeom>
        </p:spPr>
      </p:pic>
      <p:sp>
        <p:nvSpPr>
          <p:cNvPr id="14" name="Text 9"/>
          <p:cNvSpPr/>
          <p:nvPr/>
        </p:nvSpPr>
        <p:spPr>
          <a:xfrm>
            <a:off x="2913736" y="3099816"/>
            <a:ext cx="685800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Better business visibility for management</a:t>
            </a:r>
            <a:endParaRPr lang="en-US" sz="1500" dirty="0"/>
          </a:p>
        </p:txBody>
      </p:sp>
      <p:sp>
        <p:nvSpPr>
          <p:cNvPr id="15" name="Shape 10"/>
          <p:cNvSpPr/>
          <p:nvPr/>
        </p:nvSpPr>
        <p:spPr>
          <a:xfrm>
            <a:off x="2255368" y="3739896"/>
            <a:ext cx="457200" cy="457200"/>
          </a:xfrm>
          <a:prstGeom prst="ellipse">
            <a:avLst/>
          </a:prstGeom>
          <a:solidFill>
            <a:srgbClr val="1E8E5A"/>
          </a:solidFill>
          <a:ln/>
        </p:spPr>
      </p:sp>
      <p:pic>
        <p:nvPicPr>
          <p:cNvPr id="16" name="Image 3" descr="icons/check_white.png">    </p:cNvPr>
          <p:cNvPicPr>
            <a:picLocks noChangeAspect="1"/>
          </p:cNvPicPr>
          <p:nvPr/>
        </p:nvPicPr>
        <p:blipFill>
          <a:blip r:embed="rId4"/>
          <a:stretch>
            <a:fillRect/>
          </a:stretch>
        </p:blipFill>
        <p:spPr>
          <a:xfrm>
            <a:off x="2374240" y="3858768"/>
            <a:ext cx="219456" cy="219456"/>
          </a:xfrm>
          <a:prstGeom prst="rect">
            <a:avLst/>
          </a:prstGeom>
        </p:spPr>
      </p:pic>
      <p:sp>
        <p:nvSpPr>
          <p:cNvPr id="17" name="Text 11"/>
          <p:cNvSpPr/>
          <p:nvPr/>
        </p:nvSpPr>
        <p:spPr>
          <a:xfrm>
            <a:off x="2913736" y="3721608"/>
            <a:ext cx="685800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Improved operational decisions</a:t>
            </a:r>
            <a:endParaRPr lang="en-US" sz="1500" dirty="0"/>
          </a:p>
        </p:txBody>
      </p:sp>
      <p:sp>
        <p:nvSpPr>
          <p:cNvPr id="18" name="Shape 12"/>
          <p:cNvSpPr/>
          <p:nvPr/>
        </p:nvSpPr>
        <p:spPr>
          <a:xfrm>
            <a:off x="2255368" y="4361688"/>
            <a:ext cx="457200" cy="457200"/>
          </a:xfrm>
          <a:prstGeom prst="ellipse">
            <a:avLst/>
          </a:prstGeom>
          <a:solidFill>
            <a:srgbClr val="1E8E5A"/>
          </a:solidFill>
          <a:ln/>
        </p:spPr>
      </p:sp>
      <p:pic>
        <p:nvPicPr>
          <p:cNvPr id="19" name="Image 4" descr="icons/check_white.png">    </p:cNvPr>
          <p:cNvPicPr>
            <a:picLocks noChangeAspect="1"/>
          </p:cNvPicPr>
          <p:nvPr/>
        </p:nvPicPr>
        <p:blipFill>
          <a:blip r:embed="rId5"/>
          <a:stretch>
            <a:fillRect/>
          </a:stretch>
        </p:blipFill>
        <p:spPr>
          <a:xfrm>
            <a:off x="2374240" y="4480560"/>
            <a:ext cx="219456" cy="219456"/>
          </a:xfrm>
          <a:prstGeom prst="rect">
            <a:avLst/>
          </a:prstGeom>
        </p:spPr>
      </p:pic>
      <p:sp>
        <p:nvSpPr>
          <p:cNvPr id="20" name="Text 13"/>
          <p:cNvSpPr/>
          <p:nvPr/>
        </p:nvSpPr>
        <p:spPr>
          <a:xfrm>
            <a:off x="2913736" y="4343400"/>
            <a:ext cx="685800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Data-driven management culture</a:t>
            </a:r>
            <a:endParaRPr lang="en-US" sz="1500" dirty="0"/>
          </a:p>
        </p:txBody>
      </p:sp>
      <p:sp>
        <p:nvSpPr>
          <p:cNvPr id="21" name="Text 14"/>
          <p:cNvSpPr/>
          <p:nvPr/>
        </p:nvSpPr>
        <p:spPr>
          <a:xfrm>
            <a:off x="731520" y="5349240"/>
            <a:ext cx="10728655"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22" name="Text 15"/>
          <p:cNvSpPr/>
          <p:nvPr/>
        </p:nvSpPr>
        <p:spPr>
          <a:xfrm>
            <a:off x="731520" y="6355080"/>
            <a:ext cx="10728655" cy="32004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Questions &amp; Answers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2026-07-14T06:06:34Z</dcterms:created>
  <dcterms:modified xsi:type="dcterms:W3CDTF">2026-07-14T06:06:34Z</dcterms:modified>
</cp:coreProperties>
</file>